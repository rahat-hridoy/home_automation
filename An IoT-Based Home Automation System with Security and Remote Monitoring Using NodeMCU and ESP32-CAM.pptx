
<file path=[Content_Types].xml><?xml version="1.0" encoding="utf-8"?>
<Types xmlns="http://schemas.openxmlformats.org/package/2006/content-types">
  <Default Extension="png" ContentType="image/png"/>
  <Default Extension="bmp" ContentType="image/bmp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3" r:id="rId21"/>
    <p:sldId id="284" r:id="rId22"/>
    <p:sldId id="276" r:id="rId23"/>
    <p:sldId id="277" r:id="rId24"/>
    <p:sldId id="285" r:id="rId25"/>
    <p:sldId id="278" r:id="rId26"/>
    <p:sldId id="279" r:id="rId27"/>
    <p:sldId id="281" r:id="rId28"/>
    <p:sldId id="282" r:id="rId29"/>
  </p:sldIdLst>
  <p:sldSz cx="18288000" cy="10287000"/>
  <p:notesSz cx="6858000" cy="9144000"/>
  <p:embeddedFontLst>
    <p:embeddedFont>
      <p:font typeface="Barlow" charset="0"/>
      <p:regular r:id="rId31"/>
      <p:bold r:id="rId32"/>
      <p:boldItalic r:id="rId33"/>
    </p:embeddedFont>
    <p:embeddedFont>
      <p:font typeface="Bahnschrift Condensed" pitchFamily="34" charset="0"/>
      <p:regular r:id="rId34"/>
      <p:bold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Georgia" pitchFamily="18" charset="0"/>
      <p:regular r:id="rId40"/>
      <p:bold r:id="rId41"/>
      <p:italic r:id="rId42"/>
      <p:boldItalic r:id="rId43"/>
    </p:embeddedFont>
    <p:embeddedFont>
      <p:font typeface="Barlow SemiBold" charset="0"/>
      <p:regular r:id="rId44"/>
      <p:bold r:id="rId45"/>
      <p:italic r:id="rId46"/>
      <p:boldItalic r:id="rId47"/>
    </p:embeddedFont>
    <p:embeddedFont>
      <p:font typeface="Bahnschrift" pitchFamily="34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8F08086-8936-4311-98C6-F17FA8CBA93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83"/>
            <p14:sldId id="284"/>
          </p14:sldIdLst>
        </p14:section>
        <p14:section name="Untitled Section" id="{7B2CB001-0590-4F73-B8E6-2BFF045E4799}">
          <p14:sldIdLst>
            <p14:sldId id="276"/>
            <p14:sldId id="277"/>
            <p14:sldId id="285"/>
            <p14:sldId id="278"/>
            <p14:sldId id="279"/>
            <p14:sldId id="281"/>
            <p14:sldId id="282"/>
          </p14:sldIdLst>
        </p14:section>
      </p14:sectionLst>
    </p:ex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05AEA84-7F95-441A-8324-E36830A3636F}">
  <a:tblStyle styleId="{005AEA84-7F95-441A-8324-E36830A3636F}" styleName="Table_0">
    <a:wholeTbl>
      <a:tcTxStyle b="off" i="off">
        <a:font>
          <a:latin typeface="Georgia"/>
          <a:ea typeface="Georgia"/>
          <a:cs typeface="Georgia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4660"/>
  </p:normalViewPr>
  <p:slideViewPr>
    <p:cSldViewPr snapToGrid="0">
      <p:cViewPr>
        <p:scale>
          <a:sx n="40" d="100"/>
          <a:sy n="40" d="100"/>
        </p:scale>
        <p:origin x="-882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93381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9" name="Google Shape;3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7" name="Google Shape;4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0" name="Google Shape;70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3" name="Google Shape;77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7" name="Google Shape;78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0" y="0"/>
            <a:ext cx="182880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798320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92608" y="9587485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04800" y="237744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2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sldNum" idx="12"/>
          </p:nvPr>
        </p:nvSpPr>
        <p:spPr>
          <a:xfrm>
            <a:off x="8534400" y="9486900"/>
            <a:ext cx="1219200" cy="661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7983200" y="4572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0" y="0"/>
            <a:ext cx="18288000" cy="37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92608" y="9587485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2743200" y="4229100"/>
            <a:ext cx="128016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lvl="0" algn="ctr">
              <a:spcBef>
                <a:spcPts val="580"/>
              </a:spcBef>
              <a:spcAft>
                <a:spcPts val="0"/>
              </a:spcAft>
              <a:buSzPts val="2465"/>
              <a:buNone/>
              <a:defRPr sz="2900" b="1" cap="none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3"/>
          <p:cNvCxnSpPr/>
          <p:nvPr/>
        </p:nvCxnSpPr>
        <p:spPr>
          <a:xfrm>
            <a:off x="310896" y="3630168"/>
            <a:ext cx="17666208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4" name="Google Shape;44;p3"/>
          <p:cNvSpPr/>
          <p:nvPr/>
        </p:nvSpPr>
        <p:spPr>
          <a:xfrm>
            <a:off x="304800" y="228600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8534400" y="3172968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723376" y="3314700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3"/>
          <p:cNvSpPr txBox="1">
            <a:spLocks noGrp="1"/>
          </p:cNvSpPr>
          <p:nvPr>
            <p:ph type="sldNum" idx="12"/>
          </p:nvPr>
        </p:nvSpPr>
        <p:spPr>
          <a:xfrm>
            <a:off x="8686800" y="3299176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ctrTitle"/>
          </p:nvPr>
        </p:nvSpPr>
        <p:spPr>
          <a:xfrm>
            <a:off x="1371600" y="571500"/>
            <a:ext cx="155448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500"/>
              <a:buFont typeface="Georgia"/>
              <a:buNone/>
              <a:defRPr sz="7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5900"/>
              <a:buFont typeface="Georgia"/>
              <a:buNone/>
              <a:defRPr>
                <a:solidFill>
                  <a:srgbClr val="7A979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sldNum" idx="12"/>
          </p:nvPr>
        </p:nvSpPr>
        <p:spPr>
          <a:xfrm>
            <a:off x="8723376" y="1539558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603504" y="2290572"/>
            <a:ext cx="1700784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7983200" y="28575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04800" y="3429000"/>
            <a:ext cx="176662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10896" y="213528"/>
            <a:ext cx="17666208" cy="32095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2736852" y="4114800"/>
            <a:ext cx="12960348" cy="250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ctr">
              <a:spcBef>
                <a:spcPts val="580"/>
              </a:spcBef>
              <a:spcAft>
                <a:spcPts val="0"/>
              </a:spcAft>
              <a:buSzPts val="2465"/>
              <a:buNone/>
              <a:defRPr sz="29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SzPts val="2240"/>
              <a:buNone/>
              <a:defRPr sz="3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80"/>
              </a:spcBef>
              <a:spcAft>
                <a:spcPts val="0"/>
              </a:spcAft>
              <a:buSzPts val="2175"/>
              <a:buNone/>
              <a:defRPr sz="29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00"/>
              </a:spcBef>
              <a:spcAft>
                <a:spcPts val="0"/>
              </a:spcAft>
              <a:buSzPts val="1750"/>
              <a:buNone/>
              <a:defRPr sz="2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00"/>
              </a:spcBef>
              <a:spcAft>
                <a:spcPts val="0"/>
              </a:spcAft>
              <a:buSzPts val="2500"/>
              <a:buFont typeface="Georgia"/>
              <a:buNone/>
              <a:defRPr sz="25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92608" y="9587485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04800" y="228600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5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7" name="Google Shape;67;p5"/>
          <p:cNvCxnSpPr/>
          <p:nvPr/>
        </p:nvCxnSpPr>
        <p:spPr>
          <a:xfrm>
            <a:off x="304800" y="3657600"/>
            <a:ext cx="17666208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8" name="Google Shape;68;p5"/>
          <p:cNvSpPr/>
          <p:nvPr/>
        </p:nvSpPr>
        <p:spPr>
          <a:xfrm>
            <a:off x="8534400" y="3172968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723376" y="3314700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8686800" y="3299176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1444626" y="800100"/>
            <a:ext cx="15544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Georgia"/>
              <a:buNone/>
              <a:defRPr sz="75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dt" idx="10"/>
          </p:nvPr>
        </p:nvSpPr>
        <p:spPr>
          <a:xfrm>
            <a:off x="11582400" y="961491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ldNum" idx="12"/>
          </p:nvPr>
        </p:nvSpPr>
        <p:spPr>
          <a:xfrm>
            <a:off x="8686800" y="1560262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6"/>
          <p:cNvCxnSpPr/>
          <p:nvPr/>
        </p:nvCxnSpPr>
        <p:spPr>
          <a:xfrm rot="10800000" flipH="1">
            <a:off x="9126161" y="2363479"/>
            <a:ext cx="17842" cy="722933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6"/>
          <p:cNvSpPr txBox="1">
            <a:spLocks noGrp="1"/>
          </p:cNvSpPr>
          <p:nvPr>
            <p:ph type="body" idx="1"/>
          </p:nvPr>
        </p:nvSpPr>
        <p:spPr>
          <a:xfrm>
            <a:off x="603504" y="2057400"/>
            <a:ext cx="8077200" cy="7022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471487" algn="l">
              <a:spcBef>
                <a:spcPts val="900"/>
              </a:spcBef>
              <a:spcAft>
                <a:spcPts val="0"/>
              </a:spcAft>
              <a:buSzPts val="3825"/>
              <a:buChar char="⚫"/>
              <a:defRPr sz="4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2"/>
          </p:nvPr>
        </p:nvSpPr>
        <p:spPr>
          <a:xfrm>
            <a:off x="9601200" y="2057400"/>
            <a:ext cx="8077200" cy="7022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471487" algn="l">
              <a:spcBef>
                <a:spcPts val="900"/>
              </a:spcBef>
              <a:spcAft>
                <a:spcPts val="0"/>
              </a:spcAft>
              <a:buSzPts val="3825"/>
              <a:buChar char="⚫"/>
              <a:defRPr sz="4500"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7"/>
          <p:cNvCxnSpPr/>
          <p:nvPr/>
        </p:nvCxnSpPr>
        <p:spPr>
          <a:xfrm rot="10800000">
            <a:off x="9144000" y="3300413"/>
            <a:ext cx="0" cy="62819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2" name="Google Shape;82;p7"/>
          <p:cNvSpPr/>
          <p:nvPr/>
        </p:nvSpPr>
        <p:spPr>
          <a:xfrm>
            <a:off x="0" y="0"/>
            <a:ext cx="18288000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798320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04800" y="2057400"/>
            <a:ext cx="17666208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91846" y="9587484"/>
            <a:ext cx="17666208" cy="46634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603504" y="2286000"/>
            <a:ext cx="8080376" cy="1099461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3275" tIns="81625" rIns="163275" bIns="81625" anchor="ctr" anchorCtr="0">
            <a:noAutofit/>
          </a:bodyPr>
          <a:lstStyle>
            <a:lvl1pPr marL="457200" lvl="0" indent="-228600" algn="l">
              <a:spcBef>
                <a:spcPts val="780"/>
              </a:spcBef>
              <a:spcAft>
                <a:spcPts val="0"/>
              </a:spcAft>
              <a:buSzPts val="3315"/>
              <a:buNone/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SzPts val="2520"/>
              <a:buNone/>
              <a:defRPr sz="3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SzPts val="2400"/>
              <a:buNone/>
              <a:defRPr sz="3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SzPts val="2030"/>
              <a:buNone/>
              <a:defRPr sz="29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SzPts val="2900"/>
              <a:buFont typeface="Georgia"/>
              <a:buNone/>
              <a:defRPr sz="29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body" idx="2"/>
          </p:nvPr>
        </p:nvSpPr>
        <p:spPr>
          <a:xfrm>
            <a:off x="9582661" y="2286000"/>
            <a:ext cx="8083550" cy="1097280"/>
          </a:xfrm>
          <a:prstGeom prst="rect">
            <a:avLst/>
          </a:prstGeom>
          <a:noFill/>
          <a:ln>
            <a:noFill/>
          </a:ln>
          <a:effectLst>
            <a:outerShdw blurRad="508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63275" tIns="81625" rIns="163275" bIns="81625" anchor="ctr" anchorCtr="0">
            <a:noAutofit/>
          </a:bodyPr>
          <a:lstStyle>
            <a:lvl1pPr marL="457200" lvl="0" indent="-228600" algn="l">
              <a:spcBef>
                <a:spcPts val="780"/>
              </a:spcBef>
              <a:spcAft>
                <a:spcPts val="0"/>
              </a:spcAft>
              <a:buSzPts val="3315"/>
              <a:buNone/>
              <a:defRPr sz="39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228600" algn="l">
              <a:spcBef>
                <a:spcPts val="720"/>
              </a:spcBef>
              <a:spcAft>
                <a:spcPts val="0"/>
              </a:spcAft>
              <a:buSzPts val="2520"/>
              <a:buNone/>
              <a:defRPr sz="36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SzPts val="2400"/>
              <a:buNone/>
              <a:defRPr sz="32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228600" algn="l">
              <a:spcBef>
                <a:spcPts val="580"/>
              </a:spcBef>
              <a:spcAft>
                <a:spcPts val="0"/>
              </a:spcAft>
              <a:buSzPts val="2030"/>
              <a:buNone/>
              <a:defRPr sz="29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228600" algn="l">
              <a:spcBef>
                <a:spcPts val="580"/>
              </a:spcBef>
              <a:spcAft>
                <a:spcPts val="0"/>
              </a:spcAft>
              <a:buSzPts val="2900"/>
              <a:buFont typeface="Georgia"/>
              <a:buNone/>
              <a:defRPr sz="2900" b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ftr" idx="11"/>
          </p:nvPr>
        </p:nvSpPr>
        <p:spPr>
          <a:xfrm>
            <a:off x="609600" y="9614916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2" name="Google Shape;92;p7"/>
          <p:cNvCxnSpPr/>
          <p:nvPr/>
        </p:nvCxnSpPr>
        <p:spPr>
          <a:xfrm>
            <a:off x="304800" y="1920240"/>
            <a:ext cx="17666208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3" name="Google Shape;93;p7"/>
          <p:cNvSpPr/>
          <p:nvPr/>
        </p:nvSpPr>
        <p:spPr>
          <a:xfrm>
            <a:off x="304800" y="233172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3"/>
          </p:nvPr>
        </p:nvSpPr>
        <p:spPr>
          <a:xfrm>
            <a:off x="603504" y="3707074"/>
            <a:ext cx="8083296" cy="5727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4"/>
          </p:nvPr>
        </p:nvSpPr>
        <p:spPr>
          <a:xfrm>
            <a:off x="9601200" y="3707075"/>
            <a:ext cx="8077200" cy="573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8534400" y="1434054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723376" y="1575786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8686800" y="1563625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686800" y="1554031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304800" y="228600"/>
            <a:ext cx="17666208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798320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0" y="0"/>
            <a:ext cx="18288000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304800" y="914400"/>
            <a:ext cx="5486400" cy="880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762000" y="1371600"/>
            <a:ext cx="47244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Georgia"/>
              <a:buNone/>
              <a:defRPr sz="39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1"/>
          </p:nvPr>
        </p:nvSpPr>
        <p:spPr>
          <a:xfrm>
            <a:off x="762000" y="2971801"/>
            <a:ext cx="4724400" cy="6217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SzPts val="2465"/>
              <a:buNone/>
              <a:defRPr sz="29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1786"/>
              </a:spcBef>
              <a:spcAft>
                <a:spcPts val="0"/>
              </a:spcAft>
              <a:buSzPts val="1470"/>
              <a:buNone/>
              <a:defRPr sz="21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None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304800" y="228600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304800" y="800100"/>
            <a:ext cx="17666208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" name="Google Shape;116;p9"/>
          <p:cNvSpPr txBox="1">
            <a:spLocks noGrp="1"/>
          </p:cNvSpPr>
          <p:nvPr>
            <p:ph type="body" idx="2"/>
          </p:nvPr>
        </p:nvSpPr>
        <p:spPr>
          <a:xfrm>
            <a:off x="6248400" y="1028700"/>
            <a:ext cx="11277600" cy="8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2590800" y="342900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2779776" y="484632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9"/>
          <p:cNvSpPr txBox="1">
            <a:spLocks noGrp="1"/>
          </p:cNvSpPr>
          <p:nvPr>
            <p:ph type="sldNum" idx="12"/>
          </p:nvPr>
        </p:nvSpPr>
        <p:spPr>
          <a:xfrm>
            <a:off x="2743200" y="469108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ctr">
              <a:spcBef>
                <a:spcPts val="0"/>
              </a:spcBef>
              <a:buNone/>
              <a:defRPr sz="2900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298704" y="9582578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9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ftr" idx="11"/>
          </p:nvPr>
        </p:nvSpPr>
        <p:spPr>
          <a:xfrm>
            <a:off x="603504" y="961627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0"/>
          <p:cNvCxnSpPr/>
          <p:nvPr/>
        </p:nvCxnSpPr>
        <p:spPr>
          <a:xfrm>
            <a:off x="304800" y="800100"/>
            <a:ext cx="17666208" cy="0"/>
          </a:xfrm>
          <a:prstGeom prst="straightConnector1">
            <a:avLst/>
          </a:prstGeom>
          <a:noFill/>
          <a:ln w="114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5" name="Google Shape;125;p10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1798320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04800" y="228600"/>
            <a:ext cx="17666208" cy="4526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304800" y="914400"/>
            <a:ext cx="5486400" cy="880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304800" y="233172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2590800" y="342900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2779776" y="484632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2743200" y="469108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6000750" y="7543800"/>
            <a:ext cx="11734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00"/>
              <a:buFont typeface="Georgia"/>
              <a:buNone/>
              <a:defRPr sz="43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0"/>
          <p:cNvSpPr>
            <a:spLocks noGrp="1"/>
          </p:cNvSpPr>
          <p:nvPr>
            <p:ph type="pic" idx="2"/>
          </p:nvPr>
        </p:nvSpPr>
        <p:spPr>
          <a:xfrm>
            <a:off x="6000750" y="914400"/>
            <a:ext cx="11734800" cy="64008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0"/>
          <p:cNvSpPr txBox="1">
            <a:spLocks noGrp="1"/>
          </p:cNvSpPr>
          <p:nvPr>
            <p:ph type="body" idx="1"/>
          </p:nvPr>
        </p:nvSpPr>
        <p:spPr>
          <a:xfrm>
            <a:off x="762000" y="1485900"/>
            <a:ext cx="48768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228600" algn="l">
              <a:spcBef>
                <a:spcPts val="580"/>
              </a:spcBef>
              <a:spcAft>
                <a:spcPts val="0"/>
              </a:spcAft>
              <a:buSzPts val="2465"/>
              <a:buFont typeface="Georgia"/>
              <a:buNone/>
              <a:defRPr sz="2900">
                <a:solidFill>
                  <a:srgbClr val="FFFFFF"/>
                </a:solidFill>
              </a:defRPr>
            </a:lvl1pPr>
            <a:lvl2pPr marL="914400" lvl="1" indent="-321944" algn="l">
              <a:spcBef>
                <a:spcPts val="1786"/>
              </a:spcBef>
              <a:spcAft>
                <a:spcPts val="0"/>
              </a:spcAft>
              <a:buSzPts val="1470"/>
              <a:buChar char="⚪"/>
              <a:defRPr sz="2100"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🞆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Georgia"/>
              <a:buChar char="•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298704" y="9582578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0"/>
          <p:cNvSpPr txBox="1">
            <a:spLocks noGrp="1"/>
          </p:cNvSpPr>
          <p:nvPr>
            <p:ph type="dt" idx="10"/>
          </p:nvPr>
        </p:nvSpPr>
        <p:spPr>
          <a:xfrm>
            <a:off x="11576304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ftr" idx="11"/>
          </p:nvPr>
        </p:nvSpPr>
        <p:spPr>
          <a:xfrm>
            <a:off x="603504" y="9616272"/>
            <a:ext cx="716889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body" idx="1"/>
          </p:nvPr>
        </p:nvSpPr>
        <p:spPr>
          <a:xfrm rot="5400000">
            <a:off x="5688330" y="-2798826"/>
            <a:ext cx="6899148" cy="17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sldNum" idx="12"/>
          </p:nvPr>
        </p:nvSpPr>
        <p:spPr>
          <a:xfrm>
            <a:off x="8686800" y="1560262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14020800" y="0"/>
            <a:ext cx="42672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0" y="0"/>
            <a:ext cx="18288000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292608" y="9587485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304800" y="233172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54" name="Google Shape;154;p12"/>
          <p:cNvCxnSpPr/>
          <p:nvPr/>
        </p:nvCxnSpPr>
        <p:spPr>
          <a:xfrm rot="5400000">
            <a:off x="9605010" y="4917186"/>
            <a:ext cx="9368028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5" name="Google Shape;155;p12"/>
          <p:cNvSpPr/>
          <p:nvPr/>
        </p:nvSpPr>
        <p:spPr>
          <a:xfrm>
            <a:off x="13679424" y="4388645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13868400" y="4530377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13831824" y="4514852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 rot="5400000">
            <a:off x="2796775" y="-1729975"/>
            <a:ext cx="8732049" cy="13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lvl="0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⚪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⯍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🞆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31470" algn="l">
              <a:spcBef>
                <a:spcPts val="3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 rot="5400000">
            <a:off x="11841956" y="3398046"/>
            <a:ext cx="8777288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1"/>
            <a:ext cx="18288000" cy="20900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7983200" y="0"/>
            <a:ext cx="3048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98704" y="9582578"/>
            <a:ext cx="17666208" cy="4643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11582400" y="9607476"/>
            <a:ext cx="60899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609600" y="9616272"/>
            <a:ext cx="716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800" y="233172"/>
            <a:ext cx="17666208" cy="9820656"/>
          </a:xfrm>
          <a:prstGeom prst="rect">
            <a:avLst/>
          </a:prstGeom>
          <a:noFill/>
          <a:ln w="9525" cap="flat" cmpd="sng">
            <a:solidFill>
              <a:srgbClr val="7A979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304800" y="1915115"/>
            <a:ext cx="17666208" cy="0"/>
          </a:xfrm>
          <a:prstGeom prst="straightConnector1">
            <a:avLst/>
          </a:prstGeom>
          <a:noFill/>
          <a:ln w="9525" cap="flat" cmpd="sng">
            <a:solidFill>
              <a:srgbClr val="7A979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/>
          <p:nvPr/>
        </p:nvSpPr>
        <p:spPr>
          <a:xfrm>
            <a:off x="8534400" y="1434054"/>
            <a:ext cx="12192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723376" y="1575786"/>
            <a:ext cx="841248" cy="630936"/>
          </a:xfrm>
          <a:prstGeom prst="ellipse">
            <a:avLst/>
          </a:prstGeom>
          <a:solidFill>
            <a:srgbClr val="FFFFFF"/>
          </a:solidFill>
          <a:ln w="50800" cap="rnd" cmpd="dbl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275" tIns="81625" rIns="163275" bIns="816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1"/>
          <p:cNvSpPr txBox="1">
            <a:spLocks noGrp="1"/>
          </p:cNvSpPr>
          <p:nvPr>
            <p:ph type="sldNum" idx="12"/>
          </p:nvPr>
        </p:nvSpPr>
        <p:spPr>
          <a:xfrm>
            <a:off x="8686800" y="1560262"/>
            <a:ext cx="914400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81625" rIns="81625" bIns="81625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ctr" rtl="0">
              <a:spcBef>
                <a:spcPts val="0"/>
              </a:spcBef>
              <a:buNone/>
              <a:defRPr sz="2900" b="0" u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title"/>
          </p:nvPr>
        </p:nvSpPr>
        <p:spPr>
          <a:xfrm>
            <a:off x="603504" y="342900"/>
            <a:ext cx="17068800" cy="113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A9798"/>
              </a:buClr>
              <a:buSzPts val="5900"/>
              <a:buFont typeface="Georgia"/>
              <a:buNone/>
              <a:defRPr sz="5900" b="0" i="0" u="none" strike="noStrike" cap="none">
                <a:solidFill>
                  <a:srgbClr val="7A979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body" idx="1"/>
          </p:nvPr>
        </p:nvSpPr>
        <p:spPr>
          <a:xfrm>
            <a:off x="603504" y="2286000"/>
            <a:ext cx="17068800" cy="689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3275" tIns="81625" rIns="163275" bIns="81625" anchor="t" anchorCtr="0">
            <a:normAutofit/>
          </a:bodyPr>
          <a:lstStyle>
            <a:lvl1pPr marL="457200" marR="0" lvl="0" indent="-487680" algn="l" rtl="0"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4080"/>
              <a:buFont typeface="Noto Sans Symbols"/>
              <a:buChar char="⚫"/>
              <a:defRPr sz="4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401955" algn="l" rtl="0">
              <a:spcBef>
                <a:spcPts val="780"/>
              </a:spcBef>
              <a:spcAft>
                <a:spcPts val="0"/>
              </a:spcAft>
              <a:buClr>
                <a:schemeClr val="accent2"/>
              </a:buClr>
              <a:buSzPts val="2730"/>
              <a:buFont typeface="Noto Sans Symbols"/>
              <a:buChar char="⚪"/>
              <a:defRPr sz="39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400050" algn="l" rtl="0">
              <a:spcBef>
                <a:spcPts val="720"/>
              </a:spcBef>
              <a:spcAft>
                <a:spcPts val="0"/>
              </a:spcAft>
              <a:buClr>
                <a:schemeClr val="accent3"/>
              </a:buClr>
              <a:buSzPts val="2700"/>
              <a:buFont typeface="Noto Sans Symbols"/>
              <a:buChar char="⯍"/>
              <a:defRPr sz="3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88619" algn="l" rtl="0">
              <a:spcBef>
                <a:spcPts val="720"/>
              </a:spcBef>
              <a:spcAft>
                <a:spcPts val="0"/>
              </a:spcAft>
              <a:buClr>
                <a:schemeClr val="accent4"/>
              </a:buClr>
              <a:buSzPts val="2520"/>
              <a:buFont typeface="Noto Sans Symbols"/>
              <a:buChar char="🞆"/>
              <a:defRPr sz="36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431800" algn="l" rtl="0">
              <a:spcBef>
                <a:spcPts val="64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Georgia"/>
              <a:buChar char="•"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91160" algn="l" rtl="0">
              <a:spcBef>
                <a:spcPts val="640"/>
              </a:spcBef>
              <a:spcAft>
                <a:spcPts val="0"/>
              </a:spcAft>
              <a:buClr>
                <a:schemeClr val="accent6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94335" algn="l" rtl="0">
              <a:spcBef>
                <a:spcPts val="580"/>
              </a:spcBef>
              <a:spcAft>
                <a:spcPts val="0"/>
              </a:spcAft>
              <a:buClr>
                <a:srgbClr val="B75640"/>
              </a:buClr>
              <a:buSzPts val="2610"/>
              <a:buFont typeface="Georgia"/>
              <a:buChar char="•"/>
              <a:defRPr sz="2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412750" algn="l" rtl="0">
              <a:spcBef>
                <a:spcPts val="580"/>
              </a:spcBef>
              <a:spcAft>
                <a:spcPts val="0"/>
              </a:spcAft>
              <a:buClr>
                <a:srgbClr val="7A6B62"/>
              </a:buClr>
              <a:buSzPts val="2900"/>
              <a:buFont typeface="Georgia"/>
              <a:buChar char="•"/>
              <a:defRPr sz="29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71475" algn="l" rtl="0">
              <a:spcBef>
                <a:spcPts val="500"/>
              </a:spcBef>
              <a:spcAft>
                <a:spcPts val="0"/>
              </a:spcAft>
              <a:buClr>
                <a:srgbClr val="B29D00"/>
              </a:buClr>
              <a:buSzPts val="2250"/>
              <a:buFont typeface="Georgia"/>
              <a:buChar char="•"/>
              <a:defRPr sz="25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9318084" TargetMode="External"/><Relationship Id="rId3" Type="http://schemas.openxmlformats.org/officeDocument/2006/relationships/hyperlink" Target="https://ieeexplore.ieee.org/document/10394759/" TargetMode="External"/><Relationship Id="rId7" Type="http://schemas.openxmlformats.org/officeDocument/2006/relationships/hyperlink" Target="http://www.ijpam.eu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eeexplore.ieee.org/document/8443215" TargetMode="External"/><Relationship Id="rId5" Type="http://schemas.openxmlformats.org/officeDocument/2006/relationships/hyperlink" Target="https://ieeexplore.ieee.org/document/9725436" TargetMode="External"/><Relationship Id="rId4" Type="http://schemas.openxmlformats.org/officeDocument/2006/relationships/hyperlink" Target="https://www.ijrte.org/" TargetMode="External"/><Relationship Id="rId9" Type="http://schemas.openxmlformats.org/officeDocument/2006/relationships/hyperlink" Target="https://www.ijareeie.com/upload/2020/july/40_ARDUINO_NC.PDF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/>
        </p:nvSpPr>
        <p:spPr>
          <a:xfrm>
            <a:off x="914400" y="6591300"/>
            <a:ext cx="72678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</a:t>
            </a:r>
            <a:endParaRPr b="1" u="sng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S.M </a:t>
            </a:r>
            <a:r>
              <a:rPr lang="en-US" sz="3000" b="1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Tanbinul</a:t>
            </a:r>
            <a:r>
              <a:rPr lang="en-US" sz="3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Hoque</a:t>
            </a:r>
            <a:endParaRPr b="1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Department of EEE</a:t>
            </a:r>
            <a:endParaRPr sz="28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University,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Sylhet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73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9982200" y="6667500"/>
            <a:ext cx="72678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Co-Supervisor:</a:t>
            </a:r>
            <a:endParaRPr b="1" u="sng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Mirza</a:t>
            </a:r>
            <a:r>
              <a:rPr lang="en-US" sz="3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Md. </a:t>
            </a:r>
            <a:r>
              <a:rPr lang="en-US" sz="3000" b="1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Mahbubur</a:t>
            </a:r>
            <a:r>
              <a:rPr lang="en-US" sz="30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b="1" dirty="0" err="1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Rahman</a:t>
            </a:r>
            <a:endParaRPr dirty="0" smtClean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Department of EEE</a:t>
            </a:r>
            <a:endParaRPr sz="2800" dirty="0" smtClean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University, 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Sylhet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73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558362" y="4647395"/>
            <a:ext cx="17251200" cy="130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3000"/>
              </a:lnSpc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"An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-Based Home Automation System with Security and Remote Monitoring Using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and ESP32-CAM"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endParaRPr sz="3200" b="1" dirty="0">
              <a:solidFill>
                <a:srgbClr val="000000"/>
              </a:solidFill>
              <a:latin typeface="Times New Roman" pitchFamily="18" charset="0"/>
              <a:ea typeface="Georgia"/>
              <a:cs typeface="Times New Roman" pitchFamily="18" charset="0"/>
              <a:sym typeface="Georgia"/>
            </a:endParaRPr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3">
            <a:alphaModFix/>
          </a:blip>
          <a:srcRect t="9090" b="28391"/>
          <a:stretch/>
        </p:blipFill>
        <p:spPr>
          <a:xfrm>
            <a:off x="0" y="0"/>
            <a:ext cx="18287999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" y="323850"/>
            <a:ext cx="1143000" cy="119866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 flipH="1">
            <a:off x="1924050" y="377904"/>
            <a:ext cx="15240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ECD1B5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Georgia"/>
                <a:ea typeface="Georgia"/>
                <a:cs typeface="Georgia"/>
                <a:sym typeface="Georgia"/>
              </a:rPr>
              <a:t>LEADING  UNIVERSITY , </a:t>
            </a:r>
            <a:r>
              <a:rPr lang="en-US" sz="6600" b="1" dirty="0" err="1">
                <a:solidFill>
                  <a:srgbClr val="ECD1B5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Georgia"/>
                <a:ea typeface="Georgia"/>
                <a:cs typeface="Georgia"/>
                <a:sym typeface="Georgia"/>
              </a:rPr>
              <a:t>SYLHET</a:t>
            </a:r>
            <a:endParaRPr sz="6600" b="1" dirty="0">
              <a:solidFill>
                <a:srgbClr val="ECD1B5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" name="Google Shape;190;p14"/>
          <p:cNvSpPr txBox="1"/>
          <p:nvPr/>
        </p:nvSpPr>
        <p:spPr>
          <a:xfrm>
            <a:off x="13354050" y="9601200"/>
            <a:ext cx="426720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Electrical &amp; Electronic Engineering </a:t>
            </a:r>
            <a:endParaRPr dirty="0"/>
          </a:p>
        </p:txBody>
      </p:sp>
      <p:cxnSp>
        <p:nvCxnSpPr>
          <p:cNvPr id="9" name="Google Shape;191;p14"/>
          <p:cNvCxnSpPr/>
          <p:nvPr/>
        </p:nvCxnSpPr>
        <p:spPr>
          <a:xfrm>
            <a:off x="781050" y="9848850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7466553" y="3510419"/>
            <a:ext cx="3354902" cy="3354888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1342" b="-38744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13064085" y="3510419"/>
            <a:ext cx="3354902" cy="3354888"/>
          </a:xfrm>
          <a:custGeom>
            <a:avLst/>
            <a:gdLst/>
            <a:ahLst/>
            <a:cxnLst/>
            <a:rect l="l" t="t" r="r" b="b"/>
            <a:pathLst>
              <a:path w="6350000" h="6349975" extrusionOk="0">
                <a:moveTo>
                  <a:pt x="6350000" y="3175025"/>
                </a:moveTo>
                <a:cubicBezTo>
                  <a:pt x="6350000" y="4928451"/>
                  <a:pt x="4928476" y="6349975"/>
                  <a:pt x="3175000" y="6349975"/>
                </a:cubicBezTo>
                <a:cubicBezTo>
                  <a:pt x="1421498" y="6349975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2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6177" t="-8153" r="-64416" b="-65802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1028700" y="1281571"/>
            <a:ext cx="1623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</a:t>
            </a:r>
            <a:endParaRPr sz="6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349659" y="7125716"/>
            <a:ext cx="439362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Rahatul Islam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1912070052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6947191" y="7125716"/>
            <a:ext cx="4393626" cy="147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Jillur Rahman 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2132079003</a:t>
            </a:r>
            <a:endParaRPr sz="3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7628" y="3142183"/>
            <a:ext cx="3957600" cy="3983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5160" y="3142181"/>
            <a:ext cx="3957680" cy="398353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7" name="Google Shape;18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62440" y="3112535"/>
            <a:ext cx="3957680" cy="398353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12667887" y="7096070"/>
            <a:ext cx="4393626" cy="147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Shopon Kanto Das</a:t>
            </a:r>
            <a:endParaRPr sz="3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2132079007</a:t>
            </a:r>
            <a:endParaRPr sz="3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81050" y="644059"/>
            <a:ext cx="16840200" cy="9316214"/>
            <a:chOff x="838200" y="644059"/>
            <a:chExt cx="16840200" cy="9316214"/>
          </a:xfrm>
        </p:grpSpPr>
        <p:grpSp>
          <p:nvGrpSpPr>
            <p:cNvPr id="2" name="Group 1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8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9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3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184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02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89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90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91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92" name="Google Shape;192;p14" descr="C:\Users\HP\Downloads\fotor-202409210135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25500" y="3873397"/>
            <a:ext cx="2444749" cy="246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4" descr="C:\Users\HP\Downloads\IMG_20240905_180244_330-photoaidcom-cropped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12100" y="3903133"/>
            <a:ext cx="2470149" cy="246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1974" y="3903133"/>
            <a:ext cx="2428993" cy="2462603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1676400" y="1149067"/>
            <a:ext cx="14085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r>
              <a:rPr lang="en-US" sz="61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Contents:</a:t>
            </a:r>
            <a:endParaRPr sz="8000" b="1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2064993" y="2786646"/>
            <a:ext cx="705196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4000" dirty="0"/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000" dirty="0"/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4000" dirty="0"/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r>
              <a:rPr lang="en-US" sz="4000" b="1" dirty="0" smtClean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</a:p>
          <a:p>
            <a:pPr marL="857236" marR="0" lvl="0" indent="-85723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 smtClean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Layout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10015618" y="2786646"/>
            <a:ext cx="7051968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smtClean="0">
                <a:solidFill>
                  <a:srgbClr val="262626"/>
                </a:solidFill>
                <a:latin typeface="Times New Roman"/>
                <a:cs typeface="Times New Roman"/>
                <a:sym typeface="Times New Roman"/>
              </a:rPr>
              <a:t> Implementations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marR="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Cost Estimation </a:t>
            </a:r>
            <a:endParaRPr sz="4000" dirty="0"/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Future </a:t>
            </a:r>
            <a:r>
              <a:rPr lang="en-US" sz="4000" b="1" dirty="0" smtClean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 smtClean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Limitations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Conclusion  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0" indent="-742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Wingdings" pitchFamily="2" charset="2"/>
              <a:buChar char="§"/>
            </a:pPr>
            <a:r>
              <a:rPr lang="en-US" sz="40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References </a:t>
            </a:r>
            <a:endParaRPr sz="4000" b="1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03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/>
        </p:nvSpPr>
        <p:spPr>
          <a:xfrm>
            <a:off x="1245775" y="14097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r>
              <a:rPr lang="en-US" sz="7000" b="1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7000" b="1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1028700" y="3143249"/>
            <a:ext cx="15858000" cy="53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-based Home Automation System provides efficient control and monitoring of household appliances such as lights, fans, and a water pump, using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as the central controller. The system integrates key features like seismic detection for automatic appliance shutdown during earthquakes, gas leakage alerts, water level monitoring with automatic pump control, and an anti-theft system linked to the ESP32-CAM for real-time image capture.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All devices are controlled remotely via the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app, offering both remote management and real-time alerts for enhanced safety and convenience.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2" name="Group 11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6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19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04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3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4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5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1028700" y="1638300"/>
            <a:ext cx="15858000" cy="7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How does it work?</a:t>
            </a:r>
            <a:endParaRPr sz="40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lvl="0" algn="just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controls appliances based on sensor inputs and commands from the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app. The water pump operates automatically using the XKC-Y26-V water level sensor, turning off when the tank is full.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 security, two PIR motion sensors are used to cover a wider area for anti-theft detection. When motion is detected, the ESP32-CAM captures images and sends them to the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app. The MQ-5 gas sensor detects gas leaks, activating a buzzer and sending real-time alerts via the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app. In the event of seismic activity, the ADXL345 accelerometer detects vibrations and triggers an automatic shutdown of all connected appliances through relays, ensuring household safety.</a:t>
            </a:r>
            <a:endParaRPr sz="32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1" name="Group 10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5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18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05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2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3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4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/>
          <p:nvPr/>
        </p:nvSpPr>
        <p:spPr>
          <a:xfrm>
            <a:off x="5929645" y="4711554"/>
            <a:ext cx="2657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Service 2</a:t>
            </a:r>
            <a:endParaRPr dirty="0"/>
          </a:p>
        </p:txBody>
      </p:sp>
      <p:sp>
        <p:nvSpPr>
          <p:cNvPr id="244" name="Google Shape;244;p18"/>
          <p:cNvSpPr txBox="1"/>
          <p:nvPr/>
        </p:nvSpPr>
        <p:spPr>
          <a:xfrm>
            <a:off x="1028705" y="3390900"/>
            <a:ext cx="160443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ESP8266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is a versatile microcontroller unit that acts as the main controller in this project. Equipped with built-in Wi-Fi capabilities, it allows seamless integration with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platforms like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for remote control and monitoring.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1028705" y="5122445"/>
            <a:ext cx="5257800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Features: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Operating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Voltage: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3.3V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Power Supply via Micro USB Port: 5V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Working temperature: -40°C ~ +125°C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Flash </a:t>
            </a:r>
            <a:r>
              <a:rPr lang="en-US" sz="2800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size: 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4MB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Transfer rate: 110-460800bps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1028701" y="255270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4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ESP8266 </a:t>
            </a:r>
            <a:r>
              <a:rPr lang="en-US" sz="4000" b="1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endParaRPr sz="4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10988566" y="8477190"/>
            <a:ext cx="554946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01</a:t>
            </a:r>
            <a:r>
              <a:rPr lang="en-US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ESP8266 </a:t>
            </a:r>
            <a:r>
              <a:rPr lang="en-US" sz="2000" b="1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NodeMCU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V3 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7" name="Group 16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1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4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06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8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9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0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283" y="5499162"/>
            <a:ext cx="5532607" cy="2978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/>
        </p:nvSpPr>
        <p:spPr>
          <a:xfrm>
            <a:off x="5929645" y="4730604"/>
            <a:ext cx="2657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Service 2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1028699" y="3467100"/>
            <a:ext cx="15858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sensor is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integrated into this home automation system to detect hazardous gases like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LPG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natural gas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coal gas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ensuring safety in real-time.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1104899" y="4825850"/>
            <a:ext cx="9093201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Features: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Operating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Voltage: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5V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Gas Detection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Range: 200–10,000 ppm (LPG, methane, natural gas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Sensitivity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: High sensitivity to LPG, natural gas, and coal 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gas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Output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Type</a:t>
            </a: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 smtClean="0">
                <a:latin typeface="Times New Roman" pitchFamily="18" charset="0"/>
                <a:cs typeface="Times New Roman" pitchFamily="18" charset="0"/>
              </a:rPr>
              <a:t>Analog 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Output: Proportional to gas concentration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Digital Output: Triggered when gas levels exceed a threshold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Preheat Time: ~20 seconds for stabilization</a:t>
            </a:r>
            <a:endParaRPr sz="27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1028700" y="262890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4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MQ-5 Gas Detector Sensor</a:t>
            </a:r>
          </a:p>
        </p:txBody>
      </p:sp>
      <p:sp>
        <p:nvSpPr>
          <p:cNvPr id="265" name="Google Shape;265;p19"/>
          <p:cNvSpPr txBox="1"/>
          <p:nvPr/>
        </p:nvSpPr>
        <p:spPr>
          <a:xfrm>
            <a:off x="11957511" y="8235572"/>
            <a:ext cx="396240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02: MQ-5 Gas Detector Sensor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9" name="Group 18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3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6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07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20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1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2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724" y="4421167"/>
            <a:ext cx="5895975" cy="3448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 txBox="1"/>
          <p:nvPr/>
        </p:nvSpPr>
        <p:spPr>
          <a:xfrm>
            <a:off x="5929645" y="4711554"/>
            <a:ext cx="2657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Service 2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1028700" y="3635575"/>
            <a:ext cx="16230600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This non-contact </a:t>
            </a:r>
            <a:r>
              <a:rPr lang="en-US" sz="2800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liquid level sensor is applicable to non-metallic containers without direct contact with the 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liquid.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sensor plays a critical role in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our system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by automating the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water pump, turning it off when the tank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reaches a predefined water level.</a:t>
            </a:r>
            <a:endParaRPr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1181100" y="4990100"/>
            <a:ext cx="49398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/>
            </a:r>
            <a:br>
              <a:rPr lang="en-US" sz="3200" b="1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</a:br>
            <a:r>
              <a:rPr lang="en-US" sz="3000" b="1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Features</a:t>
            </a:r>
            <a:r>
              <a:rPr lang="en-US" sz="3000" b="1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:</a:t>
            </a:r>
            <a:endParaRPr sz="30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Operating 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Voltage: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5V </a:t>
            </a: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Output Signal: 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igital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output (HIGH or LOW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Sensing Range: Supports tank wall thickness up to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13mm</a:t>
            </a: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Response Time: Fast detection within 500ms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028700" y="2781300"/>
            <a:ext cx="1623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4000" b="1" dirty="0" smtClean="0">
                <a:solidFill>
                  <a:schemeClr val="dk1"/>
                </a:solidFill>
                <a:latin typeface="Times New Roman" pitchFamily="18" charset="0"/>
                <a:ea typeface="Georgia"/>
                <a:cs typeface="Times New Roman" pitchFamily="18" charset="0"/>
              </a:rPr>
              <a:t>Water </a:t>
            </a:r>
            <a:r>
              <a:rPr lang="en-US" sz="4000" b="1" dirty="0">
                <a:solidFill>
                  <a:schemeClr val="dk1"/>
                </a:solidFill>
                <a:latin typeface="Times New Roman" pitchFamily="18" charset="0"/>
                <a:ea typeface="Georgia"/>
                <a:cs typeface="Times New Roman" pitchFamily="18" charset="0"/>
              </a:rPr>
              <a:t>Level </a:t>
            </a:r>
            <a:r>
              <a:rPr lang="en-US" sz="4000" b="1" dirty="0" smtClean="0">
                <a:solidFill>
                  <a:schemeClr val="dk1"/>
                </a:solidFill>
                <a:latin typeface="Times New Roman" pitchFamily="18" charset="0"/>
                <a:ea typeface="Georgia"/>
                <a:cs typeface="Times New Roman" pitchFamily="18" charset="0"/>
              </a:rPr>
              <a:t>Sensor</a:t>
            </a:r>
            <a:endParaRPr lang="en-US" sz="4000" b="1" dirty="0">
              <a:solidFill>
                <a:schemeClr val="dk1"/>
              </a:solidFill>
              <a:latin typeface="Times New Roman" pitchFamily="18" charset="0"/>
              <a:ea typeface="Georgia"/>
              <a:cs typeface="Times New Roman" pitchFamily="18" charset="0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9511378" y="8515350"/>
            <a:ext cx="74854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03 :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Times New Roman" pitchFamily="18" charset="0"/>
                <a:ea typeface="Georgia"/>
                <a:cs typeface="Times New Roman" pitchFamily="18" charset="0"/>
              </a:rPr>
              <a:t>Contactless Water Level Sensor (XKC-Y26-V</a:t>
            </a: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ea typeface="Georgia"/>
                <a:cs typeface="Times New Roman" pitchFamily="18" charset="0"/>
              </a:rPr>
              <a:t>)</a:t>
            </a:r>
            <a:endParaRPr lang="en-US" sz="2000" dirty="0">
              <a:solidFill>
                <a:schemeClr val="dk1"/>
              </a:solidFill>
              <a:latin typeface="Times New Roman" pitchFamily="18" charset="0"/>
              <a:ea typeface="Georgia"/>
              <a:cs typeface="Times New Roman" pitchFamily="18" charset="0"/>
            </a:endParaRPr>
          </a:p>
        </p:txBody>
      </p:sp>
      <p:sp>
        <p:nvSpPr>
          <p:cNvPr id="16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8" name="Group 17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2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5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08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9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0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1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4" r="14262" b="17000"/>
          <a:stretch/>
        </p:blipFill>
        <p:spPr>
          <a:xfrm>
            <a:off x="11487149" y="4711554"/>
            <a:ext cx="5695951" cy="3803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 txBox="1"/>
          <p:nvPr/>
        </p:nvSpPr>
        <p:spPr>
          <a:xfrm>
            <a:off x="5929645" y="4711554"/>
            <a:ext cx="2657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Service 2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1028700" y="3771900"/>
            <a:ext cx="16230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This key component, providing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motion detection for security purposes. It uses infrared technology to detect the movement of objects (typically human beings) within its detection range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.</a:t>
            </a:r>
            <a:endParaRPr sz="28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1245774" y="5271998"/>
            <a:ext cx="6012687" cy="340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Features:</a:t>
            </a:r>
            <a:endParaRPr sz="30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Operating </a:t>
            </a:r>
            <a:r>
              <a:rPr lang="en-US" sz="2800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Voltage: 5V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Detection Range: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3–7 meters(can be adjusted)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Detection Angle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:&lt;140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Output: Digital(HIGH/LOW)</a:t>
            </a:r>
          </a:p>
          <a:p>
            <a:pPr marL="457200" lvl="0" indent="-457200" algn="just">
              <a:lnSpc>
                <a:spcPct val="150000"/>
              </a:lnSpc>
              <a:buClr>
                <a:schemeClr val="dk1"/>
              </a:buClr>
              <a:buSzPts val="2800"/>
              <a:buFont typeface="Noto Sans Symbols"/>
              <a:buChar char="⮚"/>
            </a:pPr>
            <a:endParaRPr sz="20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028700" y="3009900"/>
            <a:ext cx="160032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Motion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Sensor</a:t>
            </a:r>
            <a:endParaRPr lang="en-US" sz="4000" b="1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10903644" y="8515350"/>
            <a:ext cx="500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04 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HC-SR501 PIR Motion Sensor</a:t>
            </a:r>
            <a:endParaRPr lang="en-US" sz="2000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16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8" name="Group 17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2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5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09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9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0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1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520" y="4942386"/>
            <a:ext cx="7091007" cy="3370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1245775" y="2465458"/>
            <a:ext cx="950595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ADXL345 Triple-Axis Accelerometer:</a:t>
            </a:r>
            <a:endParaRPr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13989600" y="8757176"/>
            <a:ext cx="3765000" cy="62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05 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ADXL345 </a:t>
            </a:r>
            <a:endParaRPr sz="20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1403866" y="3075058"/>
            <a:ext cx="14934024" cy="325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ADXL345 operates by measuring the change in capacitance caused by the movement of a micro-machined structure inside the sensor. When the device experiences acceleration or vibrations (like seismic activity), the internal structure shifts, altering the capacitance and producing corresponding changes in the output signal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Sensing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Acceleration: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sensor detects acceleration across the X, Y, and Z axes by monitoring the displacement of its internal structure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Digital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Output via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I2C/SPI: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detected acceleration data is converted into digital signals and transmitted via I2C(Inter-Integrated Circuit) or SPI(Serial Peripheral Interface) to the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Seismic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Detection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Mechanism: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constantly reads the accelerometer data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 measured acceleration exceeds a predefined threshold (indicating seismic activity),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triggers the relay module to shut off all connected appliances for safety.</a:t>
            </a:r>
          </a:p>
        </p:txBody>
      </p:sp>
      <p:sp>
        <p:nvSpPr>
          <p:cNvPr id="320" name="Google Shape;320;p22"/>
          <p:cNvSpPr/>
          <p:nvPr/>
        </p:nvSpPr>
        <p:spPr>
          <a:xfrm>
            <a:off x="1245775" y="7227352"/>
            <a:ext cx="8769843" cy="3059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Operating Voltage: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3.3V Output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 Digital (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I2C/SPI Communication)</a:t>
            </a:r>
          </a:p>
          <a:p>
            <a:pPr marL="342900" lvl="0" indent="-3429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Measurement Range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 ±2g, ±4g, ±8g, ±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16g </a:t>
            </a:r>
            <a:br>
              <a:rPr lang="en-US" sz="2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Sensitivity: Adjustable threshold for seismic event detection</a:t>
            </a:r>
            <a:endParaRPr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8" name="Group 17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2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5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10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9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0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1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1026" name="Picture 2" descr="https://components101.com/sites/default/files/component_pin/ADXL345-Pino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3686" y="5505450"/>
            <a:ext cx="4080914" cy="318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5929645" y="4711554"/>
            <a:ext cx="26576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Barlow SemiBold"/>
                <a:ea typeface="Barlow SemiBold"/>
                <a:cs typeface="Barlow SemiBold"/>
                <a:sym typeface="Barlow SemiBold"/>
              </a:rPr>
              <a:t>Service 2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1118125" y="3505200"/>
            <a:ext cx="162687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4-channel 5V relay module controls 5V appliances like lights, fans, and a water pump in the prototype system. The relays receive low-voltage signals from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to switch these appliances on or off, providing flexible and safe control.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952503" y="5116109"/>
            <a:ext cx="9354207" cy="400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Features</a:t>
            </a:r>
            <a:r>
              <a:rPr lang="en-US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Operating Voltage: 5V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DC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Switching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Capacity: Supports appliances up to 250V AC / 10A, but used here for 5V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Appliances Control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Triggered by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GPIO digital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signals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Isolation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Provides electrical isolation between control signals and appliances for safe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operation</a:t>
            </a:r>
          </a:p>
          <a:p>
            <a:pPr marL="457200" lvl="0" indent="-457200" algn="just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Indicator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LEDs: Show the ON/OFF status of each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relay.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1104900" y="2628900"/>
            <a:ext cx="10382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Relay</a:t>
            </a:r>
            <a:endParaRPr sz="4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12197826" y="8547798"/>
            <a:ext cx="414006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06: 5v  Relay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9" name="Group 18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3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6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11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20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1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2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050" name="Picture 2" descr="https://images-cdn.ubuy.co.id/6348f311d508e101336736e4-jbtek-4-channel-dc-5v-relay-module-fo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006" y="4851400"/>
            <a:ext cx="5721094" cy="375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/>
          <p:nvPr/>
        </p:nvSpPr>
        <p:spPr>
          <a:xfrm>
            <a:off x="1028700" y="2413748"/>
            <a:ext cx="41472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ESP32-CAM</a:t>
            </a:r>
            <a:r>
              <a:rPr lang="en-US" sz="3600" b="1" dirty="0"/>
              <a:t> </a:t>
            </a:r>
            <a:endParaRPr b="1" dirty="0"/>
          </a:p>
        </p:txBody>
      </p:sp>
      <p:sp>
        <p:nvSpPr>
          <p:cNvPr id="349" name="Google Shape;349;p24"/>
          <p:cNvSpPr/>
          <p:nvPr/>
        </p:nvSpPr>
        <p:spPr>
          <a:xfrm>
            <a:off x="1003825" y="3238500"/>
            <a:ext cx="16497300" cy="27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ESP32-CAM is a compact microcontroller module with a built-in camera designed for image capture and video streaming. In this project, the ESP32-CAM is dedicated to the anti-theft system, capturing images when motion is detected and sending them to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 for real-time monitoring. When the PIR motion sensors detect movement, they send a signal to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triggers the ESP32-CAM to capture an image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captured image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transmitted over Wi-Fi to 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app, providing instant visual feedback for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security monitoring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104900" y="6226450"/>
            <a:ext cx="9144000" cy="337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dirty="0"/>
          </a:p>
          <a:p>
            <a:pPr marL="457200" lvl="0" indent="-457200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Microcontroller: ESP32 with integrated Wi-Fi and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Bluetooth Camera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Resolution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2MP,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supports resolutions up to 1600x1200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0" indent="-457200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Supports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microSD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cards for local image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storage</a:t>
            </a:r>
          </a:p>
          <a:p>
            <a:pPr marL="457200" lvl="0" indent="-457200">
              <a:buClr>
                <a:schemeClr val="dk1"/>
              </a:buClr>
              <a:buSzPts val="2800"/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Power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Supply: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5V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2564127" y="8928704"/>
            <a:ext cx="4246401" cy="4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07: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ESP32-CAM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52;p18"/>
          <p:cNvSpPr txBox="1"/>
          <p:nvPr/>
        </p:nvSpPr>
        <p:spPr>
          <a:xfrm>
            <a:off x="1245775" y="12573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8" name="Group 17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2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5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</a:t>
                </a: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9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20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21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3074" name="Picture 2" descr="https://highlight.com.np/wp-content/uploads/2025/01/1647569906_esp20cam2032-3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8297" y="5971802"/>
            <a:ext cx="4917701" cy="295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952503" y="2272526"/>
            <a:ext cx="16535400" cy="7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4000" b="1" dirty="0" err="1" smtClean="0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 as the primary software platform for remote control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real-time monitoring of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household appliances and security systems. The app connects to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ESP32-CAM via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Wi-Fi.</a:t>
            </a:r>
          </a:p>
          <a:p>
            <a:endParaRPr lang="en-US" sz="26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Functions: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Appliance Control: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Turn lights, fans, and the water pump on/off remotely.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Real-Time Alerts: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Notifications for gas leaks and seismic activity.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Water Monitoring: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control the water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pump.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Anti-Theft: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ESP32-CAM captures and sends images when motion is detected.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Software Tools Used</a:t>
            </a:r>
            <a:r>
              <a:rPr lang="en-US" sz="3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lvl="0" indent="-457200" algn="just">
              <a:buFont typeface="Wingdings" pitchFamily="2" charset="2"/>
              <a:buChar char="Ø"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App: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control and alerts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lvl="0" indent="-457200" algn="just">
              <a:buFont typeface="Wingdings" pitchFamily="2" charset="2"/>
              <a:buChar char="Ø"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IDE: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programming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ESP32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CAM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Library: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Integrated into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code to establish communication between the hardware and the app.</a:t>
            </a:r>
          </a:p>
          <a:p>
            <a:pPr marL="285750" lvl="0" indent="-285750" algn="just">
              <a:buFont typeface="Wingdings" pitchFamily="2" charset="2"/>
              <a:buChar char="Ø"/>
            </a:pP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13068300" y="6999300"/>
            <a:ext cx="4114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08: Android App 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1245775" y="11811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7000" b="1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5" name="Group 14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9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2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13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6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7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8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4098" name="Picture 2" descr="Blynk IoT platform Pricing 20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5834" y="4578126"/>
            <a:ext cx="4824793" cy="275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https://images.sftcdn.net/images/t_app-icon-m/p/03370361-6473-4b61-812e-335410c78a4a/2764138989/blynk-iot-for-arduino-esp826632-raspberry-pi-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"/>
          <p:cNvSpPr txBox="1"/>
          <p:nvPr/>
        </p:nvSpPr>
        <p:spPr>
          <a:xfrm>
            <a:off x="1076250" y="2745676"/>
            <a:ext cx="16059300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- Based Control: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Control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lights, fans, and a water pump via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 with real-time monitoring.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Seismic Safety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Shut down: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ADXL345 accelerometer to automatically shut off appliances during earthquakes.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Gas Leak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Detection: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Detect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LPG (Liquefied Petroleum Gas),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MQ-5 sensor, triggering a buzzer and sending app notifications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Automatic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Water Pump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Control: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XKC-Y26-V sensor to automatically turn off the water pump when the tank is full.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Anti-Theft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System: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Detect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motion with two PIR sensors and trigger the ESP32-CAM to send images to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Energy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Efficiency: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Enable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remote appliance control to reduce unnecessary energy use.</a:t>
            </a:r>
          </a:p>
        </p:txBody>
      </p:sp>
      <p:sp>
        <p:nvSpPr>
          <p:cNvPr id="387" name="Google Shape;387;p26"/>
          <p:cNvSpPr txBox="1"/>
          <p:nvPr/>
        </p:nvSpPr>
        <p:spPr>
          <a:xfrm>
            <a:off x="1245775" y="1409700"/>
            <a:ext cx="1601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7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14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/>
          <p:nvPr/>
        </p:nvSpPr>
        <p:spPr>
          <a:xfrm>
            <a:off x="1316367" y="517043"/>
            <a:ext cx="16013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US" sz="66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r>
              <a:rPr lang="en-US" sz="80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7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1028700" y="2506325"/>
            <a:ext cx="16497300" cy="646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1. An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-Based Home Automation System Using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(2022)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study developed a smart home system using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NodeMCU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app, allowing users to control appliances remotely through a mobile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interface [1].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a lacking of security features like motion detection and camera integration for unauthorized access monitoring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2. Gas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Leak Detection, Monitoring, and Safety System Using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2020)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system detects gas leaks using sensors, alerts users via a buzzer and cloud notifications, and controls gas flow with a solenoid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valve [2].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a lacking of integration with broader home automation features, such as connectivity with other smart security systems.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Smart Security for Home Automation (2021)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research focused on home security automation using PIR motion sensors and a camera module to detect unauthorized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entry [3].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a lacking of real-time remote access and additional safety features like seismic or gas leak detection.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Theft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Detection System Using PIR Sensor (2020)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Implemented PIR motion sensors for intrusion detection and alert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notifications [4].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a lacking of a camera for evidence capture and real-time app monitoring.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Home Automation Using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(2019)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Developed a Wi-Fi-based home automation system that allowed users to control appliances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remotely [5].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there is a lacking of seismic safety shutdown and gas leakage detection, making it less secure for critical situations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15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/>
          <p:nvPr/>
        </p:nvSpPr>
        <p:spPr>
          <a:xfrm>
            <a:off x="16886728" y="826770"/>
            <a:ext cx="37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 flipH="1">
            <a:off x="1028728" y="2248156"/>
            <a:ext cx="158580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-Based Home Automation Using Android Application (2020)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Used an Android app to control home appliances via Wi-Fi, enhancing user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convenience [6].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But there is a lacking of motion-based security monitoring and automatic water pump control.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-Based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Earthquake Detector Using Accelerometer (2018)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Utilized an accelerometer (ADXL335) to detect earthquakes and trigger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alerts [7].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But there is a lacking of integration with a home automation setup for appliance shutdown.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52503" y="5461761"/>
            <a:ext cx="16160191" cy="283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Contribution of This Project: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This project improves upon traditional systems by using Wi-Fi for global control via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Blynk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app. It automates appliance shutdown during earthquakes, integrates smart gas leak alerts with cloud notifications, and triggers immediate responses. Unlike manual water level monitoring, it automates pump control with a contactless sensor. It also enhances security by combining dual PIR sensors with ESP32-CAM for real-time image capture and app monitoring. Additionally, it optimizes energy use through remote appliance control.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5" name="Group 14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9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2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16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6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7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8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23" name="Google Shape;406;p27"/>
          <p:cNvSpPr txBox="1"/>
          <p:nvPr/>
        </p:nvSpPr>
        <p:spPr>
          <a:xfrm>
            <a:off x="1316367" y="517043"/>
            <a:ext cx="16013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7454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US" sz="66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r>
              <a:rPr lang="en-US" sz="80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7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/>
          <p:nvPr/>
        </p:nvSpPr>
        <p:spPr>
          <a:xfrm>
            <a:off x="18525042" y="800100"/>
            <a:ext cx="37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1079534" y="1207077"/>
            <a:ext cx="16013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600" b="1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Flowchart</a:t>
            </a:r>
            <a:endParaRPr sz="6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Flowchart: Process 12">
            <a:extLst>
              <a:ext uri="{FF2B5EF4-FFF2-40B4-BE49-F238E27FC236}">
                <a16:creationId xmlns="" xmlns:a16="http://schemas.microsoft.com/office/drawing/2014/main" id="{F9A96E82-5290-CADC-85AD-8B55FA47A69F}"/>
              </a:ext>
            </a:extLst>
          </p:cNvPr>
          <p:cNvSpPr/>
          <p:nvPr/>
        </p:nvSpPr>
        <p:spPr>
          <a:xfrm>
            <a:off x="7625656" y="8042328"/>
            <a:ext cx="2901277" cy="6320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Preparation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="" xmlns:a16="http://schemas.microsoft.com/office/drawing/2014/main" id="{8EC7101A-0F88-CBA0-E2E0-58B23D04F50B}"/>
              </a:ext>
            </a:extLst>
          </p:cNvPr>
          <p:cNvSpPr/>
          <p:nvPr/>
        </p:nvSpPr>
        <p:spPr>
          <a:xfrm>
            <a:off x="11830212" y="6779058"/>
            <a:ext cx="3732819" cy="11960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Troubleshoot Procedure, Carefully check all steps and setup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="" xmlns:a16="http://schemas.microsoft.com/office/drawing/2014/main" id="{22F85117-C508-B2FE-EF7B-EED452269E6D}"/>
              </a:ext>
            </a:extLst>
          </p:cNvPr>
          <p:cNvSpPr/>
          <p:nvPr/>
        </p:nvSpPr>
        <p:spPr>
          <a:xfrm>
            <a:off x="7802574" y="5852372"/>
            <a:ext cx="2520196" cy="7507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="" xmlns:a16="http://schemas.microsoft.com/office/drawing/2014/main" id="{2FBA287B-1C70-7C5D-E6A5-439891A35950}"/>
              </a:ext>
            </a:extLst>
          </p:cNvPr>
          <p:cNvSpPr/>
          <p:nvPr/>
        </p:nvSpPr>
        <p:spPr>
          <a:xfrm>
            <a:off x="7797704" y="4776939"/>
            <a:ext cx="2525066" cy="74984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="" xmlns:a16="http://schemas.microsoft.com/office/drawing/2014/main" id="{2B303792-D526-8960-A410-AF44258ED575}"/>
              </a:ext>
            </a:extLst>
          </p:cNvPr>
          <p:cNvSpPr/>
          <p:nvPr/>
        </p:nvSpPr>
        <p:spPr>
          <a:xfrm>
            <a:off x="7802573" y="3678977"/>
            <a:ext cx="2520197" cy="76047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="" xmlns:a16="http://schemas.microsoft.com/office/drawing/2014/main" id="{10D016CE-1355-D192-F4B2-FAEFF4836835}"/>
              </a:ext>
            </a:extLst>
          </p:cNvPr>
          <p:cNvSpPr/>
          <p:nvPr/>
        </p:nvSpPr>
        <p:spPr>
          <a:xfrm>
            <a:off x="7676429" y="6874308"/>
            <a:ext cx="2819609" cy="97429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B36EE419-9A41-4E37-1D39-C0B6B30A75DF}"/>
              </a:ext>
            </a:extLst>
          </p:cNvPr>
          <p:cNvSpPr/>
          <p:nvPr/>
        </p:nvSpPr>
        <p:spPr>
          <a:xfrm>
            <a:off x="7839411" y="8855707"/>
            <a:ext cx="2475597" cy="63119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</a:t>
            </a:r>
            <a:r>
              <a:rPr lang="en-US" sz="2000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716F3EC9-C2EB-ECDC-DE44-A25BF63A9ABA}"/>
              </a:ext>
            </a:extLst>
          </p:cNvPr>
          <p:cNvSpPr/>
          <p:nvPr/>
        </p:nvSpPr>
        <p:spPr>
          <a:xfrm>
            <a:off x="14388381" y="5992515"/>
            <a:ext cx="472264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0638426A-B381-109E-81C9-068C93CA4589}"/>
              </a:ext>
            </a:extLst>
          </p:cNvPr>
          <p:cNvSpPr/>
          <p:nvPr/>
        </p:nvSpPr>
        <p:spPr>
          <a:xfrm>
            <a:off x="7897043" y="2724150"/>
            <a:ext cx="2331259" cy="666750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</a:t>
            </a:r>
            <a:r>
              <a:rPr lang="en-US" sz="2000" dirty="0">
                <a:solidFill>
                  <a:schemeClr val="tx1"/>
                </a:solidFill>
              </a:rPr>
              <a:t>Start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5AF91E69-A009-831C-E1DC-71F7ECCDE716}"/>
              </a:ext>
            </a:extLst>
          </p:cNvPr>
          <p:cNvCxnSpPr>
            <a:stCxn id="22" idx="4"/>
            <a:endCxn id="17" idx="0"/>
          </p:cNvCxnSpPr>
          <p:nvPr/>
        </p:nvCxnSpPr>
        <p:spPr>
          <a:xfrm flipH="1">
            <a:off x="9062672" y="3390900"/>
            <a:ext cx="1" cy="288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02807F8E-8CEE-3D93-D60B-302E3C94A379}"/>
              </a:ext>
            </a:extLst>
          </p:cNvPr>
          <p:cNvCxnSpPr>
            <a:endCxn id="14" idx="1"/>
          </p:cNvCxnSpPr>
          <p:nvPr/>
        </p:nvCxnSpPr>
        <p:spPr>
          <a:xfrm>
            <a:off x="10409343" y="7361454"/>
            <a:ext cx="1420869" cy="15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9767FED1-827A-FC0D-C716-812CF624EFC3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13696621" y="5151863"/>
            <a:ext cx="1" cy="1627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="" xmlns:a16="http://schemas.microsoft.com/office/drawing/2014/main" id="{6C948B84-91C0-EC7E-4EB0-2C0F4132CD5D}"/>
              </a:ext>
            </a:extLst>
          </p:cNvPr>
          <p:cNvCxnSpPr>
            <a:stCxn id="13" idx="2"/>
            <a:endCxn id="19" idx="0"/>
          </p:cNvCxnSpPr>
          <p:nvPr/>
        </p:nvCxnSpPr>
        <p:spPr>
          <a:xfrm>
            <a:off x="9076295" y="8674395"/>
            <a:ext cx="915" cy="181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="" xmlns:a16="http://schemas.microsoft.com/office/drawing/2014/main" id="{2CA7D588-502A-7809-FF4D-191311737429}"/>
              </a:ext>
            </a:extLst>
          </p:cNvPr>
          <p:cNvCxnSpPr>
            <a:endCxn id="16" idx="3"/>
          </p:cNvCxnSpPr>
          <p:nvPr/>
        </p:nvCxnSpPr>
        <p:spPr>
          <a:xfrm flipH="1">
            <a:off x="10322770" y="5151864"/>
            <a:ext cx="3373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6" idx="0"/>
          </p:cNvCxnSpPr>
          <p:nvPr/>
        </p:nvCxnSpPr>
        <p:spPr>
          <a:xfrm>
            <a:off x="9055053" y="4439453"/>
            <a:ext cx="5184" cy="3374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3"/>
            <a:endCxn id="16" idx="3"/>
          </p:cNvCxnSpPr>
          <p:nvPr/>
        </p:nvCxnSpPr>
        <p:spPr>
          <a:xfrm>
            <a:off x="10322770" y="5151864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6" idx="2"/>
            <a:endCxn id="15" idx="0"/>
          </p:cNvCxnSpPr>
          <p:nvPr/>
        </p:nvCxnSpPr>
        <p:spPr>
          <a:xfrm>
            <a:off x="9060237" y="5526788"/>
            <a:ext cx="2435" cy="3255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="" xmlns:a16="http://schemas.microsoft.com/office/drawing/2014/main" id="{6C948B84-91C0-EC7E-4EB0-2C0F4132CD5D}"/>
              </a:ext>
            </a:extLst>
          </p:cNvPr>
          <p:cNvCxnSpPr>
            <a:stCxn id="18" idx="2"/>
            <a:endCxn id="13" idx="0"/>
          </p:cNvCxnSpPr>
          <p:nvPr/>
        </p:nvCxnSpPr>
        <p:spPr>
          <a:xfrm flipH="1">
            <a:off x="9076295" y="7848600"/>
            <a:ext cx="9939" cy="193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6C948B84-91C0-EC7E-4EB0-2C0F4132CD5D}"/>
              </a:ext>
            </a:extLst>
          </p:cNvPr>
          <p:cNvCxnSpPr/>
          <p:nvPr/>
        </p:nvCxnSpPr>
        <p:spPr>
          <a:xfrm>
            <a:off x="9088674" y="6625749"/>
            <a:ext cx="0" cy="24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854854" y="7628036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Yes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248651" y="6787094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34" name="Group 33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38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0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41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17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35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36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37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"/>
          <p:cNvSpPr txBox="1"/>
          <p:nvPr/>
        </p:nvSpPr>
        <p:spPr>
          <a:xfrm>
            <a:off x="16924828" y="826770"/>
            <a:ext cx="37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6395577" y="8941442"/>
            <a:ext cx="636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09: Block Diagram  </a:t>
            </a:r>
            <a:r>
              <a:rPr lang="en-US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System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56" name="Google Shape;456;p30"/>
          <p:cNvGrpSpPr/>
          <p:nvPr/>
        </p:nvGrpSpPr>
        <p:grpSpPr>
          <a:xfrm>
            <a:off x="4104885" y="3805200"/>
            <a:ext cx="10768397" cy="4972355"/>
            <a:chOff x="4458309" y="4003154"/>
            <a:chExt cx="10768397" cy="4972355"/>
          </a:xfrm>
        </p:grpSpPr>
        <p:sp>
          <p:nvSpPr>
            <p:cNvPr id="457" name="Google Shape;457;p30"/>
            <p:cNvSpPr/>
            <p:nvPr/>
          </p:nvSpPr>
          <p:spPr>
            <a:xfrm>
              <a:off x="7170097" y="4003154"/>
              <a:ext cx="3276600" cy="497235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4486884" y="6808981"/>
              <a:ext cx="2229300" cy="674100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10896601" y="4249989"/>
              <a:ext cx="1752600" cy="573819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ESP-CAM</a:t>
              </a:r>
              <a:endParaRPr sz="28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10896601" y="5190039"/>
              <a:ext cx="1752600" cy="1618942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4-CHANNEL RELAY MODULE</a:t>
              </a:r>
              <a:endParaRPr sz="24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30"/>
            <p:cNvSpPr/>
            <p:nvPr/>
          </p:nvSpPr>
          <p:spPr>
            <a:xfrm>
              <a:off x="13474106" y="4702176"/>
              <a:ext cx="1752600" cy="639303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Load 1 -Light</a:t>
              </a:r>
              <a:endParaRPr sz="28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13474106" y="5679858"/>
              <a:ext cx="1752600" cy="639303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Load 2-Fan</a:t>
              </a:r>
              <a:endParaRPr sz="28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10909571" y="7163515"/>
              <a:ext cx="1739630" cy="639303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BUZZER</a:t>
              </a:r>
              <a:endParaRPr sz="28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13474106" y="6725038"/>
              <a:ext cx="1752600" cy="921466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Load 3-Water Pump</a:t>
              </a:r>
              <a:r>
                <a:rPr lang="en-US" sz="2400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71" name="Google Shape;471;p30"/>
            <p:cNvCxnSpPr>
              <a:stCxn id="472" idx="3"/>
            </p:cNvCxnSpPr>
            <p:nvPr/>
          </p:nvCxnSpPr>
          <p:spPr>
            <a:xfrm flipV="1">
              <a:off x="6687609" y="4578019"/>
              <a:ext cx="472940" cy="1350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5" name="Google Shape;475;p30"/>
            <p:cNvCxnSpPr>
              <a:stCxn id="461" idx="3"/>
              <a:endCxn id="462" idx="1"/>
            </p:cNvCxnSpPr>
            <p:nvPr/>
          </p:nvCxnSpPr>
          <p:spPr>
            <a:xfrm flipV="1">
              <a:off x="12649201" y="5021828"/>
              <a:ext cx="824905" cy="977682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9" name="Google Shape;479;p30"/>
            <p:cNvCxnSpPr>
              <a:endCxn id="459" idx="1"/>
            </p:cNvCxnSpPr>
            <p:nvPr/>
          </p:nvCxnSpPr>
          <p:spPr>
            <a:xfrm>
              <a:off x="10446601" y="4536898"/>
              <a:ext cx="450000" cy="0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0" name="Google Shape;480;p30"/>
            <p:cNvCxnSpPr>
              <a:endCxn id="461" idx="1"/>
            </p:cNvCxnSpPr>
            <p:nvPr/>
          </p:nvCxnSpPr>
          <p:spPr>
            <a:xfrm>
              <a:off x="10446697" y="5999510"/>
              <a:ext cx="449904" cy="0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2" name="Google Shape;482;p30"/>
            <p:cNvCxnSpPr>
              <a:endCxn id="465" idx="1"/>
            </p:cNvCxnSpPr>
            <p:nvPr/>
          </p:nvCxnSpPr>
          <p:spPr>
            <a:xfrm>
              <a:off x="10446671" y="7483166"/>
              <a:ext cx="462900" cy="0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4" name="Google Shape;484;p30"/>
            <p:cNvCxnSpPr/>
            <p:nvPr/>
          </p:nvCxnSpPr>
          <p:spPr>
            <a:xfrm>
              <a:off x="4953002" y="5864865"/>
              <a:ext cx="464400" cy="0"/>
            </a:xfrm>
            <a:prstGeom prst="straightConnector1">
              <a:avLst/>
            </a:prstGeom>
            <a:noFill/>
            <a:ln w="200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50800" dist="25400" dir="5400000" rotWithShape="0">
                <a:srgbClr val="000000">
                  <a:alpha val="44705"/>
                </a:srgbClr>
              </a:outerShdw>
            </a:effectLst>
          </p:spPr>
        </p:cxnSp>
        <p:cxnSp>
          <p:nvCxnSpPr>
            <p:cNvPr id="486" name="Google Shape;486;p30"/>
            <p:cNvCxnSpPr>
              <a:stCxn id="458" idx="3"/>
            </p:cNvCxnSpPr>
            <p:nvPr/>
          </p:nvCxnSpPr>
          <p:spPr>
            <a:xfrm>
              <a:off x="6716184" y="7146031"/>
              <a:ext cx="453900" cy="0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7" name="Google Shape;487;p30"/>
            <p:cNvCxnSpPr/>
            <p:nvPr/>
          </p:nvCxnSpPr>
          <p:spPr>
            <a:xfrm flipV="1">
              <a:off x="6668559" y="5873173"/>
              <a:ext cx="491990" cy="1596"/>
            </a:xfrm>
            <a:prstGeom prst="straightConnector1">
              <a:avLst/>
            </a:prstGeom>
            <a:ln>
              <a:headEnd type="none" w="sm" len="sm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1" name="Google Shape;491;p30"/>
            <p:cNvSpPr/>
            <p:nvPr/>
          </p:nvSpPr>
          <p:spPr>
            <a:xfrm>
              <a:off x="4458309" y="7976119"/>
              <a:ext cx="2229300" cy="674100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 smtClean="0">
                  <a:solidFill>
                    <a:schemeClr val="dk1"/>
                  </a:solidFill>
                  <a:latin typeface="Bahnschrift Condensed" pitchFamily="34" charset="0"/>
                  <a:ea typeface="Times New Roman"/>
                  <a:cs typeface="Times New Roman"/>
                  <a:sym typeface="Times New Roman"/>
                </a:rPr>
                <a:t>PIR SENSORS</a:t>
              </a:r>
              <a:endParaRPr sz="2800" dirty="0">
                <a:solidFill>
                  <a:schemeClr val="dk1"/>
                </a:solidFill>
                <a:latin typeface="Bahnschrift Condensed" pitchFamily="34" charset="0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4458309" y="4242319"/>
              <a:ext cx="2229300" cy="674100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2400" dirty="0" smtClean="0">
                  <a:latin typeface="Bahnschrift Condensed" pitchFamily="34" charset="0"/>
                </a:rPr>
                <a:t>          </a:t>
              </a:r>
              <a:r>
                <a:rPr lang="en-US" sz="2800" dirty="0" smtClean="0">
                  <a:latin typeface="Bahnschrift Condensed" pitchFamily="34" charset="0"/>
                </a:rPr>
                <a:t>ADXL345</a:t>
              </a:r>
              <a:endParaRPr lang="en-US" sz="2400" dirty="0">
                <a:latin typeface="Bahnschrift Condensed" pitchFamily="34" charset="0"/>
              </a:endParaRPr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4458309" y="5537719"/>
              <a:ext cx="2229300" cy="674100"/>
            </a:xfrm>
            <a:prstGeom prst="rect">
              <a:avLst/>
            </a:prstGeom>
            <a:solidFill>
              <a:srgbClr val="C2C2C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254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93" name="Google Shape;493;p30"/>
          <p:cNvSpPr txBox="1"/>
          <p:nvPr/>
        </p:nvSpPr>
        <p:spPr>
          <a:xfrm>
            <a:off x="990600" y="980670"/>
            <a:ext cx="16268700" cy="147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5454"/>
              </a:lnSpc>
            </a:pPr>
            <a:r>
              <a:rPr lang="en-US" sz="6600" dirty="0">
                <a:latin typeface="Times New Roman" pitchFamily="18" charset="0"/>
                <a:cs typeface="Times New Roman" pitchFamily="18" charset="0"/>
              </a:rPr>
              <a:t>Block Diagram of the </a:t>
            </a:r>
            <a:r>
              <a:rPr lang="en-US" sz="66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endParaRPr sz="8000" b="1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cxnSp>
        <p:nvCxnSpPr>
          <p:cNvPr id="494" name="Google Shape;494;p30"/>
          <p:cNvCxnSpPr/>
          <p:nvPr/>
        </p:nvCxnSpPr>
        <p:spPr>
          <a:xfrm flipV="1">
            <a:off x="6333360" y="8123246"/>
            <a:ext cx="464325" cy="11633"/>
          </a:xfrm>
          <a:prstGeom prst="straightConnector1">
            <a:avLst/>
          </a:prstGeom>
          <a:ln>
            <a:headEnd type="none" w="sm" len="sm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51" name="Group 50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55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7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58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18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52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53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54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Rectangle 2"/>
          <p:cNvSpPr/>
          <p:nvPr/>
        </p:nvSpPr>
        <p:spPr>
          <a:xfrm>
            <a:off x="7269578" y="6010671"/>
            <a:ext cx="23968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Bahnschrift Condensed" pitchFamily="34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Bahnschrift Condensed" pitchFamily="34" charset="0"/>
                <a:cs typeface="Times New Roman" pitchFamily="18" charset="0"/>
              </a:rPr>
              <a:t>NodeMCU</a:t>
            </a:r>
            <a:r>
              <a:rPr lang="en-US" sz="2800" dirty="0">
                <a:latin typeface="Bahnschrift Condensed" pitchFamily="34" charset="0"/>
                <a:cs typeface="Times New Roman" pitchFamily="18" charset="0"/>
              </a:rPr>
              <a:t> ESP8266</a:t>
            </a:r>
            <a:endParaRPr lang="en-US" sz="2800" dirty="0">
              <a:latin typeface="Bahnschrift Condense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938" y="5444263"/>
            <a:ext cx="893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Bahnschrift Condensed" pitchFamily="34" charset="0"/>
              </a:rPr>
              <a:t>MQ-5 </a:t>
            </a:r>
            <a:endParaRPr lang="en-US" dirty="0">
              <a:latin typeface="Bahnschrift Condensed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45733" y="6717244"/>
            <a:ext cx="1438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Bahnschrift Condensed" pitchFamily="34" charset="0"/>
              </a:rPr>
              <a:t>XKC-Y26-V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461" y="2745497"/>
            <a:ext cx="2181674" cy="77063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chemeClr val="tx1"/>
                </a:solidFill>
                <a:latin typeface="Bahnschrift" pitchFamily="34" charset="0"/>
              </a:rPr>
              <a:t>Blyn</a:t>
            </a:r>
            <a:r>
              <a:rPr lang="en-US" sz="2800" dirty="0" err="1" smtClean="0">
                <a:solidFill>
                  <a:schemeClr val="tx1"/>
                </a:solidFill>
                <a:latin typeface="Bahnschrift Condensed" pitchFamily="34" charset="0"/>
              </a:rPr>
              <a:t>k</a:t>
            </a:r>
            <a:r>
              <a:rPr lang="en-US" sz="2400" dirty="0" smtClean="0">
                <a:solidFill>
                  <a:schemeClr val="tx1"/>
                </a:solidFill>
                <a:latin typeface="Bahnschrift" pitchFamily="34" charset="0"/>
              </a:rPr>
              <a:t> App</a:t>
            </a:r>
            <a:endParaRPr lang="en-US" sz="2400" dirty="0">
              <a:solidFill>
                <a:schemeClr val="tx1"/>
              </a:solidFill>
              <a:latin typeface="Bahnschrift" pitchFamily="34" charset="0"/>
            </a:endParaRPr>
          </a:p>
        </p:txBody>
      </p:sp>
      <p:cxnSp>
        <p:nvCxnSpPr>
          <p:cNvPr id="28" name="Straight Arrow Connector 27"/>
          <p:cNvCxnSpPr>
            <a:endCxn id="464" idx="1"/>
          </p:cNvCxnSpPr>
          <p:nvPr/>
        </p:nvCxnSpPr>
        <p:spPr>
          <a:xfrm>
            <a:off x="12295777" y="5801556"/>
            <a:ext cx="8249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61" idx="3"/>
            <a:endCxn id="466" idx="1"/>
          </p:cNvCxnSpPr>
          <p:nvPr/>
        </p:nvCxnSpPr>
        <p:spPr>
          <a:xfrm>
            <a:off x="12295777" y="5801556"/>
            <a:ext cx="824905" cy="11862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59" idx="3"/>
          </p:cNvCxnSpPr>
          <p:nvPr/>
        </p:nvCxnSpPr>
        <p:spPr>
          <a:xfrm flipV="1">
            <a:off x="12295777" y="4338944"/>
            <a:ext cx="824905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3120682" y="3468007"/>
            <a:ext cx="0" cy="870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15135" y="3468007"/>
            <a:ext cx="680554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/>
          <p:cNvCxnSpPr/>
          <p:nvPr/>
        </p:nvCxnSpPr>
        <p:spPr>
          <a:xfrm>
            <a:off x="7269578" y="3130815"/>
            <a:ext cx="0" cy="6743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/>
          <p:cNvCxnSpPr>
            <a:stCxn id="16" idx="3"/>
          </p:cNvCxnSpPr>
          <p:nvPr/>
        </p:nvCxnSpPr>
        <p:spPr>
          <a:xfrm>
            <a:off x="6315135" y="3130816"/>
            <a:ext cx="954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/>
          <p:cNvCxnSpPr/>
          <p:nvPr/>
        </p:nvCxnSpPr>
        <p:spPr>
          <a:xfrm flipV="1">
            <a:off x="7583214" y="2901960"/>
            <a:ext cx="15765" cy="903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495"/>
          <p:cNvCxnSpPr/>
          <p:nvPr/>
        </p:nvCxnSpPr>
        <p:spPr>
          <a:xfrm flipH="1">
            <a:off x="6333360" y="2901960"/>
            <a:ext cx="12498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1"/>
          <p:cNvSpPr txBox="1"/>
          <p:nvPr/>
        </p:nvSpPr>
        <p:spPr>
          <a:xfrm>
            <a:off x="990600" y="905448"/>
            <a:ext cx="16268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Layout </a:t>
            </a:r>
            <a:endParaRPr sz="8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4" name="Group 193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96" name="Group 195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201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2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3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4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19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97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98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99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" t="5375" r="3586" b="4119"/>
          <a:stretch/>
        </p:blipFill>
        <p:spPr>
          <a:xfrm>
            <a:off x="2322924" y="2359741"/>
            <a:ext cx="13752816" cy="70105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86132" y="964658"/>
            <a:ext cx="15544800" cy="159651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1"/>
                </a:solidFill>
              </a:rPr>
              <a:t>Implementations (Cont</a:t>
            </a:r>
            <a:r>
              <a:rPr lang="en-US" sz="6600" dirty="0">
                <a:solidFill>
                  <a:schemeClr val="tx1"/>
                </a:solidFill>
              </a:rPr>
              <a:t>.</a:t>
            </a:r>
            <a:r>
              <a:rPr lang="en-US" sz="6600" dirty="0" smtClean="0">
                <a:solidFill>
                  <a:schemeClr val="tx1"/>
                </a:solidFill>
              </a:rPr>
              <a:t>)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4" name="Google Shape;178;p14"/>
          <p:cNvSpPr/>
          <p:nvPr/>
        </p:nvSpPr>
        <p:spPr>
          <a:xfrm>
            <a:off x="952503" y="644059"/>
            <a:ext cx="2740846" cy="769289"/>
          </a:xfrm>
          <a:custGeom>
            <a:avLst/>
            <a:gdLst/>
            <a:ahLst/>
            <a:cxnLst/>
            <a:rect l="l" t="t" r="r" b="b"/>
            <a:pathLst>
              <a:path w="6909363" h="1939290" extrusionOk="0">
                <a:moveTo>
                  <a:pt x="5939718" y="0"/>
                </a:moveTo>
                <a:lnTo>
                  <a:pt x="969645" y="0"/>
                </a:lnTo>
                <a:cubicBezTo>
                  <a:pt x="434975" y="0"/>
                  <a:pt x="0" y="434975"/>
                  <a:pt x="0" y="969645"/>
                </a:cubicBezTo>
                <a:cubicBezTo>
                  <a:pt x="0" y="1504315"/>
                  <a:pt x="434975" y="1939290"/>
                  <a:pt x="969645" y="1939290"/>
                </a:cubicBezTo>
                <a:lnTo>
                  <a:pt x="5939718" y="1939290"/>
                </a:lnTo>
                <a:cubicBezTo>
                  <a:pt x="6474388" y="1939290"/>
                  <a:pt x="6909363" y="1504315"/>
                  <a:pt x="6909363" y="969645"/>
                </a:cubicBezTo>
                <a:cubicBezTo>
                  <a:pt x="6909363" y="434975"/>
                  <a:pt x="6474388" y="0"/>
                  <a:pt x="5939718" y="0"/>
                </a:cubicBezTo>
                <a:close/>
                <a:moveTo>
                  <a:pt x="5939718" y="1913890"/>
                </a:moveTo>
                <a:lnTo>
                  <a:pt x="969645" y="1913890"/>
                </a:lnTo>
                <a:cubicBezTo>
                  <a:pt x="448945" y="1913890"/>
                  <a:pt x="25400" y="1490345"/>
                  <a:pt x="25400" y="969645"/>
                </a:cubicBezTo>
                <a:cubicBezTo>
                  <a:pt x="25400" y="448945"/>
                  <a:pt x="448945" y="25400"/>
                  <a:pt x="969645" y="25400"/>
                </a:cubicBezTo>
                <a:lnTo>
                  <a:pt x="5939718" y="25400"/>
                </a:lnTo>
                <a:cubicBezTo>
                  <a:pt x="6460418" y="25400"/>
                  <a:pt x="6883963" y="448945"/>
                  <a:pt x="6883963" y="969645"/>
                </a:cubicBezTo>
                <a:cubicBezTo>
                  <a:pt x="6883963" y="1490345"/>
                  <a:pt x="6460418" y="1913890"/>
                  <a:pt x="5939718" y="1913890"/>
                </a:cubicBez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179;p14"/>
          <p:cNvCxnSpPr/>
          <p:nvPr/>
        </p:nvCxnSpPr>
        <p:spPr>
          <a:xfrm>
            <a:off x="3693346" y="1033463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83;p14"/>
          <p:cNvSpPr txBox="1"/>
          <p:nvPr/>
        </p:nvSpPr>
        <p:spPr>
          <a:xfrm>
            <a:off x="1169576" y="802960"/>
            <a:ext cx="2306696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Leading University</a:t>
            </a:r>
            <a:endParaRPr dirty="0"/>
          </a:p>
        </p:txBody>
      </p:sp>
      <p:sp>
        <p:nvSpPr>
          <p:cNvPr id="7" name="Google Shape;190;p14"/>
          <p:cNvSpPr txBox="1"/>
          <p:nvPr/>
        </p:nvSpPr>
        <p:spPr>
          <a:xfrm>
            <a:off x="13335000" y="9601200"/>
            <a:ext cx="426720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Electrical &amp; Electronic Engineering </a:t>
            </a:r>
            <a:endParaRPr dirty="0"/>
          </a:p>
        </p:txBody>
      </p:sp>
      <p:cxnSp>
        <p:nvCxnSpPr>
          <p:cNvPr id="8" name="Google Shape;191;p14"/>
          <p:cNvCxnSpPr/>
          <p:nvPr/>
        </p:nvCxnSpPr>
        <p:spPr>
          <a:xfrm>
            <a:off x="762000" y="9848850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Rectangle 8"/>
          <p:cNvSpPr/>
          <p:nvPr/>
        </p:nvSpPr>
        <p:spPr>
          <a:xfrm>
            <a:off x="16762186" y="792997"/>
            <a:ext cx="474810" cy="4714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42400"/>
              </a:lnSpc>
            </a:pPr>
            <a:r>
              <a:rPr lang="en-US" sz="2000" b="1" dirty="0" smtClean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20</a:t>
            </a:r>
            <a:endParaRPr lang="en-US" sz="2000" b="1" dirty="0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92831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371600" y="802960"/>
            <a:ext cx="15544800" cy="1449029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Implementations (Cont.)</a:t>
            </a:r>
            <a:endParaRPr lang="en-US" sz="6600" dirty="0"/>
          </a:p>
        </p:txBody>
      </p:sp>
      <p:sp>
        <p:nvSpPr>
          <p:cNvPr id="4" name="Google Shape;178;p14"/>
          <p:cNvSpPr/>
          <p:nvPr/>
        </p:nvSpPr>
        <p:spPr>
          <a:xfrm>
            <a:off x="952503" y="644059"/>
            <a:ext cx="2740846" cy="769289"/>
          </a:xfrm>
          <a:custGeom>
            <a:avLst/>
            <a:gdLst/>
            <a:ahLst/>
            <a:cxnLst/>
            <a:rect l="l" t="t" r="r" b="b"/>
            <a:pathLst>
              <a:path w="6909363" h="1939290" extrusionOk="0">
                <a:moveTo>
                  <a:pt x="5939718" y="0"/>
                </a:moveTo>
                <a:lnTo>
                  <a:pt x="969645" y="0"/>
                </a:lnTo>
                <a:cubicBezTo>
                  <a:pt x="434975" y="0"/>
                  <a:pt x="0" y="434975"/>
                  <a:pt x="0" y="969645"/>
                </a:cubicBezTo>
                <a:cubicBezTo>
                  <a:pt x="0" y="1504315"/>
                  <a:pt x="434975" y="1939290"/>
                  <a:pt x="969645" y="1939290"/>
                </a:cubicBezTo>
                <a:lnTo>
                  <a:pt x="5939718" y="1939290"/>
                </a:lnTo>
                <a:cubicBezTo>
                  <a:pt x="6474388" y="1939290"/>
                  <a:pt x="6909363" y="1504315"/>
                  <a:pt x="6909363" y="969645"/>
                </a:cubicBezTo>
                <a:cubicBezTo>
                  <a:pt x="6909363" y="434975"/>
                  <a:pt x="6474388" y="0"/>
                  <a:pt x="5939718" y="0"/>
                </a:cubicBezTo>
                <a:close/>
                <a:moveTo>
                  <a:pt x="5939718" y="1913890"/>
                </a:moveTo>
                <a:lnTo>
                  <a:pt x="969645" y="1913890"/>
                </a:lnTo>
                <a:cubicBezTo>
                  <a:pt x="448945" y="1913890"/>
                  <a:pt x="25400" y="1490345"/>
                  <a:pt x="25400" y="969645"/>
                </a:cubicBezTo>
                <a:cubicBezTo>
                  <a:pt x="25400" y="448945"/>
                  <a:pt x="448945" y="25400"/>
                  <a:pt x="969645" y="25400"/>
                </a:cubicBezTo>
                <a:lnTo>
                  <a:pt x="5939718" y="25400"/>
                </a:lnTo>
                <a:cubicBezTo>
                  <a:pt x="6460418" y="25400"/>
                  <a:pt x="6883963" y="448945"/>
                  <a:pt x="6883963" y="969645"/>
                </a:cubicBezTo>
                <a:cubicBezTo>
                  <a:pt x="6883963" y="1490345"/>
                  <a:pt x="6460418" y="1913890"/>
                  <a:pt x="5939718" y="1913890"/>
                </a:cubicBez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" name="Google Shape;179;p14"/>
          <p:cNvCxnSpPr/>
          <p:nvPr/>
        </p:nvCxnSpPr>
        <p:spPr>
          <a:xfrm>
            <a:off x="3693346" y="1033463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83;p14"/>
          <p:cNvSpPr txBox="1"/>
          <p:nvPr/>
        </p:nvSpPr>
        <p:spPr>
          <a:xfrm>
            <a:off x="1169576" y="802960"/>
            <a:ext cx="2306696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Leading University</a:t>
            </a:r>
            <a:endParaRPr dirty="0"/>
          </a:p>
        </p:txBody>
      </p:sp>
      <p:sp>
        <p:nvSpPr>
          <p:cNvPr id="7" name="Google Shape;190;p14"/>
          <p:cNvSpPr txBox="1"/>
          <p:nvPr/>
        </p:nvSpPr>
        <p:spPr>
          <a:xfrm>
            <a:off x="13335000" y="9601200"/>
            <a:ext cx="426720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Electrical &amp; Electronic Engineering </a:t>
            </a:r>
            <a:endParaRPr dirty="0"/>
          </a:p>
        </p:txBody>
      </p:sp>
      <p:cxnSp>
        <p:nvCxnSpPr>
          <p:cNvPr id="8" name="Google Shape;191;p14"/>
          <p:cNvCxnSpPr/>
          <p:nvPr/>
        </p:nvCxnSpPr>
        <p:spPr>
          <a:xfrm>
            <a:off x="762000" y="9848850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Rectangle 8"/>
          <p:cNvSpPr/>
          <p:nvPr/>
        </p:nvSpPr>
        <p:spPr>
          <a:xfrm>
            <a:off x="16669871" y="764015"/>
            <a:ext cx="420308" cy="5293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142400"/>
              </a:lnSpc>
            </a:pPr>
            <a:r>
              <a:rPr lang="en-US" sz="2000" b="1" dirty="0" smtClean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21</a:t>
            </a:r>
            <a:endParaRPr lang="en-US" sz="2000" b="1" dirty="0">
              <a:solidFill>
                <a:srgbClr val="3D3D3D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156918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3"/>
          <p:cNvSpPr txBox="1"/>
          <p:nvPr/>
        </p:nvSpPr>
        <p:spPr>
          <a:xfrm>
            <a:off x="1028728" y="826770"/>
            <a:ext cx="1623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</a:t>
            </a:r>
            <a:endParaRPr sz="6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03" name="Google Shape;703;p33"/>
          <p:cNvGraphicFramePr/>
          <p:nvPr>
            <p:extLst>
              <p:ext uri="{D42A27DB-BD31-4B8C-83A1-F6EECF244321}">
                <p14:modId xmlns:p14="http://schemas.microsoft.com/office/powerpoint/2010/main" val="969606847"/>
              </p:ext>
            </p:extLst>
          </p:nvPr>
        </p:nvGraphicFramePr>
        <p:xfrm>
          <a:off x="1245776" y="2220746"/>
          <a:ext cx="16230600" cy="6990875"/>
        </p:xfrm>
        <a:graphic>
          <a:graphicData uri="http://schemas.openxmlformats.org/drawingml/2006/table">
            <a:tbl>
              <a:tblPr firstRow="1" bandRow="1">
                <a:noFill/>
                <a:tableStyleId>{005AEA84-7F95-441A-8324-E36830A3636F}</a:tableStyleId>
              </a:tblPr>
              <a:tblGrid>
                <a:gridCol w="1379075"/>
                <a:gridCol w="10077825"/>
                <a:gridCol w="1750350"/>
                <a:gridCol w="3023350"/>
              </a:tblGrid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Accessories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Quantity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(TK)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 Motor With Fan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                                    </a:t>
                      </a:r>
                      <a:r>
                        <a:rPr lang="en-US" sz="18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NodeMCU</a:t>
                      </a: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 ESP8266</a:t>
                      </a:r>
                      <a:endParaRPr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MQ-5</a:t>
                      </a:r>
                      <a:r>
                        <a:rPr lang="en-US" sz="1800" baseline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Gas Detector Sensor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195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Times New Roman" pitchFamily="18" charset="0"/>
                          <a:ea typeface="Georgia"/>
                          <a:cs typeface="Times New Roman" pitchFamily="18" charset="0"/>
                          <a:sym typeface="Arial"/>
                        </a:rPr>
                        <a:t>Contactless Water Level Sensor (XKC-Y26-V)</a:t>
                      </a:r>
                      <a:endParaRPr lang="en-US" sz="18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Georgia"/>
                        <a:cs typeface="Times New Roman" pitchFamily="18" charset="0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HC-SR501 PIR Motion Sensor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186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Active Speaker Buzzer Module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4 Channel Relay Module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Male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Female Jumper wires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Male to Male Jumper wires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Cable -USB A To Micro B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Submersible</a:t>
                      </a:r>
                      <a:r>
                        <a:rPr lang="en-US" sz="1800" baseline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3V Mini DC water Pump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LED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5V 2A Power Adapter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ESP32-CAM With Mounting Accessories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1495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45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</a:t>
                      </a:r>
                      <a:r>
                        <a:rPr lang="en-US" sz="1800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ADXL345 Triple-Axis Accelerometer</a:t>
                      </a: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468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Others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  <a:tr h="38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23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4"/>
          <p:cNvSpPr txBox="1"/>
          <p:nvPr/>
        </p:nvSpPr>
        <p:spPr>
          <a:xfrm>
            <a:off x="914400" y="1263813"/>
            <a:ext cx="1623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8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34"/>
          <p:cNvSpPr/>
          <p:nvPr/>
        </p:nvSpPr>
        <p:spPr>
          <a:xfrm>
            <a:off x="1028702" y="2829232"/>
            <a:ext cx="16503600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Advanced Security Features: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Integrate facial recognition and intrusion detection using the ESP32-CAM to enhance the anti-theft system with smarter, automated security responses.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Smart Energy Monitoring: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Implement real-time energy tracking for individual appliances to help users monitor consumption, optimize usage, and reduce electricity costs.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Voice Assistant Integration: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Enable control of appliances through voice commands by integrating with platforms like Google Assistant or Amazon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Alexa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for hands-free operation.</a:t>
            </a:r>
          </a:p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Geofencing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Automation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Introduce location-based automation that can automatically turn appliances on or off when the user enters or leaves home.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Offline Functionality with Local Server: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Add offline control capabilities using MQTT or a Raspberry Pi local server, allowing the system to function even without an internet connection.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</a:t>
                </a: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4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952503" y="1052496"/>
            <a:ext cx="16262858" cy="140176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Limitations</a:t>
            </a:r>
            <a:endParaRPr lang="en-US" sz="6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190;p14"/>
          <p:cNvSpPr txBox="1"/>
          <p:nvPr/>
        </p:nvSpPr>
        <p:spPr>
          <a:xfrm>
            <a:off x="13335000" y="9601200"/>
            <a:ext cx="4267200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Electrical &amp; Electronic Engineering </a:t>
            </a:r>
            <a:endParaRPr dirty="0"/>
          </a:p>
        </p:txBody>
      </p:sp>
      <p:cxnSp>
        <p:nvCxnSpPr>
          <p:cNvPr id="5" name="Google Shape;191;p14"/>
          <p:cNvCxnSpPr/>
          <p:nvPr/>
        </p:nvCxnSpPr>
        <p:spPr>
          <a:xfrm>
            <a:off x="762000" y="9848850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78;p14"/>
          <p:cNvSpPr/>
          <p:nvPr/>
        </p:nvSpPr>
        <p:spPr>
          <a:xfrm>
            <a:off x="952503" y="644059"/>
            <a:ext cx="2740846" cy="769289"/>
          </a:xfrm>
          <a:custGeom>
            <a:avLst/>
            <a:gdLst/>
            <a:ahLst/>
            <a:cxnLst/>
            <a:rect l="l" t="t" r="r" b="b"/>
            <a:pathLst>
              <a:path w="6909363" h="1939290" extrusionOk="0">
                <a:moveTo>
                  <a:pt x="5939718" y="0"/>
                </a:moveTo>
                <a:lnTo>
                  <a:pt x="969645" y="0"/>
                </a:lnTo>
                <a:cubicBezTo>
                  <a:pt x="434975" y="0"/>
                  <a:pt x="0" y="434975"/>
                  <a:pt x="0" y="969645"/>
                </a:cubicBezTo>
                <a:cubicBezTo>
                  <a:pt x="0" y="1504315"/>
                  <a:pt x="434975" y="1939290"/>
                  <a:pt x="969645" y="1939290"/>
                </a:cubicBezTo>
                <a:lnTo>
                  <a:pt x="5939718" y="1939290"/>
                </a:lnTo>
                <a:cubicBezTo>
                  <a:pt x="6474388" y="1939290"/>
                  <a:pt x="6909363" y="1504315"/>
                  <a:pt x="6909363" y="969645"/>
                </a:cubicBezTo>
                <a:cubicBezTo>
                  <a:pt x="6909363" y="434975"/>
                  <a:pt x="6474388" y="0"/>
                  <a:pt x="5939718" y="0"/>
                </a:cubicBezTo>
                <a:close/>
                <a:moveTo>
                  <a:pt x="5939718" y="1913890"/>
                </a:moveTo>
                <a:lnTo>
                  <a:pt x="969645" y="1913890"/>
                </a:lnTo>
                <a:cubicBezTo>
                  <a:pt x="448945" y="1913890"/>
                  <a:pt x="25400" y="1490345"/>
                  <a:pt x="25400" y="969645"/>
                </a:cubicBezTo>
                <a:cubicBezTo>
                  <a:pt x="25400" y="448945"/>
                  <a:pt x="448945" y="25400"/>
                  <a:pt x="969645" y="25400"/>
                </a:cubicBezTo>
                <a:lnTo>
                  <a:pt x="5939718" y="25400"/>
                </a:lnTo>
                <a:cubicBezTo>
                  <a:pt x="6460418" y="25400"/>
                  <a:pt x="6883963" y="448945"/>
                  <a:pt x="6883963" y="969645"/>
                </a:cubicBezTo>
                <a:cubicBezTo>
                  <a:pt x="6883963" y="1490345"/>
                  <a:pt x="6460418" y="1913890"/>
                  <a:pt x="5939718" y="1913890"/>
                </a:cubicBezTo>
                <a:close/>
              </a:path>
            </a:pathLst>
          </a:custGeom>
          <a:solidFill>
            <a:srgbClr val="3D3D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" name="Google Shape;179;p14"/>
          <p:cNvCxnSpPr/>
          <p:nvPr/>
        </p:nvCxnSpPr>
        <p:spPr>
          <a:xfrm>
            <a:off x="3693346" y="1033463"/>
            <a:ext cx="1264454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83;p14"/>
          <p:cNvSpPr txBox="1"/>
          <p:nvPr/>
        </p:nvSpPr>
        <p:spPr>
          <a:xfrm>
            <a:off x="1169576" y="802960"/>
            <a:ext cx="2306696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Leading University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6748566" y="82492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3D3D3D"/>
                </a:solidFill>
                <a:latin typeface="Barlow"/>
                <a:ea typeface="Barlow"/>
                <a:cs typeface="Barlow"/>
                <a:sym typeface="Barlow"/>
              </a:rPr>
              <a:t>25</a:t>
            </a:r>
            <a:endParaRPr lang="en-US" sz="2000" dirty="0"/>
          </a:p>
        </p:txBody>
      </p:sp>
      <p:sp>
        <p:nvSpPr>
          <p:cNvPr id="10" name="Google Shape;733;p35"/>
          <p:cNvSpPr/>
          <p:nvPr/>
        </p:nvSpPr>
        <p:spPr>
          <a:xfrm>
            <a:off x="1169576" y="3219310"/>
            <a:ext cx="16497300" cy="5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False Triggers in Sensors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PIR motion sensor may generate false alarms due to temperature changes, sunlight, or air flow &amp;Accelerometer         may detect vibrations from nearby activities instead of actual earthquakes.</a:t>
            </a:r>
          </a:p>
          <a:p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Wi-Fi Dependency: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requires a stable internet connection for remote monitoring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Detection Range: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PIR sensor range is 3-7 meters, and water level sensor detects liquid only through non-metallic containers up to 20mm thick.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34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5"/>
          <p:cNvSpPr txBox="1"/>
          <p:nvPr/>
        </p:nvSpPr>
        <p:spPr>
          <a:xfrm>
            <a:off x="1085250" y="1490400"/>
            <a:ext cx="16174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 sz="66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8000" b="1" dirty="0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1028700" y="3219310"/>
            <a:ext cx="16497300" cy="5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System Design and Integration Completed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home automation system, including seismic detection, gas leakage alerts, water level monitoring, and anti-theft features, has been fully integrated.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Component Implementation and Testing: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All components have been successfully installed and the system has undergone thorough testing to ensure reliable operation.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Optimization Achieved: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Debugging and adjustments were completed to ensure smooth performance, achieving the project’s goals of safety, efficiency, and remote control.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26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6"/>
          <p:cNvSpPr txBox="1"/>
          <p:nvPr/>
        </p:nvSpPr>
        <p:spPr>
          <a:xfrm>
            <a:off x="1028700" y="1263813"/>
            <a:ext cx="16344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-US" sz="6600" b="1" dirty="0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1028700" y="2698400"/>
            <a:ext cx="16497300" cy="6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[1] T. </a:t>
            </a:r>
            <a:r>
              <a:rPr lang="en-US" sz="1800" dirty="0" err="1"/>
              <a:t>Deenadayalan</a:t>
            </a:r>
            <a:r>
              <a:rPr lang="en-US" sz="1800" dirty="0"/>
              <a:t>, J. J. Shirley, R. </a:t>
            </a:r>
            <a:r>
              <a:rPr lang="en-US" sz="1800" dirty="0" err="1"/>
              <a:t>Prajapati</a:t>
            </a:r>
            <a:r>
              <a:rPr lang="en-US" sz="1800" dirty="0"/>
              <a:t>, P. Singh, A. </a:t>
            </a:r>
            <a:r>
              <a:rPr lang="en-US" sz="1800" dirty="0" err="1"/>
              <a:t>Biswas</a:t>
            </a:r>
            <a:r>
              <a:rPr lang="en-US" sz="1800" dirty="0"/>
              <a:t>, and U. </a:t>
            </a:r>
            <a:r>
              <a:rPr lang="en-US" sz="1800" dirty="0" err="1"/>
              <a:t>Soni</a:t>
            </a:r>
            <a:r>
              <a:rPr lang="en-US" sz="1800" dirty="0"/>
              <a:t>, "An </a:t>
            </a:r>
            <a:r>
              <a:rPr lang="en-US" sz="1800" dirty="0" err="1"/>
              <a:t>IoT</a:t>
            </a:r>
            <a:r>
              <a:rPr lang="en-US" sz="1800" dirty="0"/>
              <a:t>-based Home Automation System using </a:t>
            </a:r>
            <a:r>
              <a:rPr lang="en-US" sz="1800" dirty="0" err="1"/>
              <a:t>NodeMCU</a:t>
            </a:r>
            <a:r>
              <a:rPr lang="en-US" sz="1800" dirty="0"/>
              <a:t> and </a:t>
            </a:r>
            <a:r>
              <a:rPr lang="en-US" sz="1800" dirty="0" err="1"/>
              <a:t>Blynk</a:t>
            </a:r>
            <a:r>
              <a:rPr lang="en-US" sz="1800" dirty="0"/>
              <a:t> </a:t>
            </a:r>
            <a:r>
              <a:rPr lang="en-US" sz="1800" dirty="0" err="1"/>
              <a:t>IoT</a:t>
            </a:r>
            <a:r>
              <a:rPr lang="en-US" sz="1800" dirty="0"/>
              <a:t> App," </a:t>
            </a:r>
            <a:r>
              <a:rPr lang="en-US" sz="1800" i="1" dirty="0"/>
              <a:t>2023 International Conference on System, Computation, Automation and Networking (ICSCAN)</a:t>
            </a:r>
            <a:r>
              <a:rPr lang="en-US" sz="1800" dirty="0"/>
              <a:t>, Pondicherry, India, 2023, pp. 1-7. [Online]. Available: </a:t>
            </a:r>
            <a:r>
              <a:rPr lang="en-US" sz="1800" dirty="0">
                <a:hlinkClick r:id="rId3"/>
              </a:rPr>
              <a:t>https://ieeexplore.ieee.org/document/10394759</a:t>
            </a:r>
            <a:r>
              <a:rPr lang="en-US" sz="1800" dirty="0" smtClean="0">
                <a:hlinkClick r:id="rId3"/>
              </a:rPr>
              <a:t>/</a:t>
            </a:r>
            <a:endParaRPr lang="en-US" sz="1800" dirty="0" smtClean="0"/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[2] P. </a:t>
            </a:r>
            <a:r>
              <a:rPr lang="en-US" sz="1800" dirty="0" err="1"/>
              <a:t>Kalpana</a:t>
            </a:r>
            <a:r>
              <a:rPr lang="en-US" sz="1800" dirty="0"/>
              <a:t>, R. </a:t>
            </a:r>
            <a:r>
              <a:rPr lang="en-US" sz="1800" dirty="0" err="1"/>
              <a:t>Vignesh</a:t>
            </a:r>
            <a:r>
              <a:rPr lang="en-US" sz="1800" dirty="0"/>
              <a:t>, R. </a:t>
            </a:r>
            <a:r>
              <a:rPr lang="en-US" sz="1800" dirty="0" err="1"/>
              <a:t>Sakthi</a:t>
            </a:r>
            <a:r>
              <a:rPr lang="en-US" sz="1800" dirty="0"/>
              <a:t> </a:t>
            </a:r>
            <a:r>
              <a:rPr lang="en-US" sz="1800" dirty="0" err="1"/>
              <a:t>Vignesh</a:t>
            </a:r>
            <a:r>
              <a:rPr lang="en-US" sz="1800" dirty="0"/>
              <a:t>, and K. R. </a:t>
            </a:r>
            <a:r>
              <a:rPr lang="en-US" sz="1800" dirty="0" err="1"/>
              <a:t>Saanjeev</a:t>
            </a:r>
            <a:r>
              <a:rPr lang="en-US" sz="1800" dirty="0"/>
              <a:t> Kumar, "Gas Leak Detection, Monitoring, and Safety System Using </a:t>
            </a:r>
            <a:r>
              <a:rPr lang="en-US" sz="1800" dirty="0" err="1"/>
              <a:t>IoT</a:t>
            </a:r>
            <a:r>
              <a:rPr lang="en-US" sz="1800" dirty="0"/>
              <a:t>," </a:t>
            </a:r>
            <a:r>
              <a:rPr lang="en-US" sz="1800" i="1" dirty="0"/>
              <a:t>International Journal of Recent Technology and Engineering (IJRTE)</a:t>
            </a:r>
            <a:r>
              <a:rPr lang="en-US" sz="1800" dirty="0"/>
              <a:t>, vol. 8, no. 6, March 2020. ISSN: 2277-3878 (Online). DOI: 10.35940/ijrte.F9041.038620. [Online]. Available: </a:t>
            </a:r>
            <a:r>
              <a:rPr lang="en-US" sz="1800" dirty="0">
                <a:hlinkClick r:id="rId4"/>
              </a:rPr>
              <a:t>https://www.ijrte.org/</a:t>
            </a:r>
            <a:r>
              <a:rPr lang="en-US" sz="1800" dirty="0" smtClean="0"/>
              <a:t> </a:t>
            </a:r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[3] T. </a:t>
            </a:r>
            <a:r>
              <a:rPr lang="en-US" sz="1800" dirty="0" err="1"/>
              <a:t>Akilan</a:t>
            </a:r>
            <a:r>
              <a:rPr lang="en-US" sz="1800" dirty="0"/>
              <a:t>, R. </a:t>
            </a:r>
            <a:r>
              <a:rPr lang="en-US" sz="1800" dirty="0" err="1"/>
              <a:t>Srivastava</a:t>
            </a:r>
            <a:r>
              <a:rPr lang="en-US" sz="1800" dirty="0"/>
              <a:t>, C. </a:t>
            </a:r>
            <a:r>
              <a:rPr lang="en-US" sz="1800" dirty="0" err="1"/>
              <a:t>Chandraprabha</a:t>
            </a:r>
            <a:r>
              <a:rPr lang="en-US" sz="1800" dirty="0"/>
              <a:t>, B. Ahmad, H. Islam, and M. </a:t>
            </a:r>
            <a:r>
              <a:rPr lang="en-US" sz="1800" dirty="0" err="1"/>
              <a:t>Saif</a:t>
            </a:r>
            <a:r>
              <a:rPr lang="en-US" sz="1800" dirty="0"/>
              <a:t>, "</a:t>
            </a:r>
            <a:r>
              <a:rPr lang="en-US" sz="1800" dirty="0" err="1"/>
              <a:t>Arduino</a:t>
            </a:r>
            <a:r>
              <a:rPr lang="en-US" sz="1800" dirty="0"/>
              <a:t>-Based Smart Security for Home Automation," </a:t>
            </a:r>
            <a:r>
              <a:rPr lang="en-US" sz="1800" i="1" dirty="0"/>
              <a:t>2021 3rd International Conference on Advances in Computing, Communication Control and Networking (ICACCCN)</a:t>
            </a:r>
            <a:r>
              <a:rPr lang="en-US" sz="1800" dirty="0"/>
              <a:t>, Greater Noida, India, 2021, pp. 804-809. ISBN: 978-1-6654-3811-7. [Online]. Available: </a:t>
            </a:r>
            <a:r>
              <a:rPr lang="en-US" sz="1800" dirty="0">
                <a:hlinkClick r:id="rId5"/>
              </a:rPr>
              <a:t>https://ieeexplore.ieee.org/document/9725436</a:t>
            </a:r>
            <a:r>
              <a:rPr lang="en-US" sz="1800" dirty="0" smtClean="0"/>
              <a:t>.</a:t>
            </a:r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2000" dirty="0"/>
              <a:t>[</a:t>
            </a:r>
            <a:r>
              <a:rPr lang="en-US" sz="1800" dirty="0"/>
              <a:t>4] P. N. </a:t>
            </a:r>
            <a:r>
              <a:rPr lang="en-US" sz="1800" dirty="0" err="1"/>
              <a:t>Saranu</a:t>
            </a:r>
            <a:r>
              <a:rPr lang="en-US" sz="1800" dirty="0"/>
              <a:t>, G. </a:t>
            </a:r>
            <a:r>
              <a:rPr lang="en-US" sz="1800" dirty="0" err="1"/>
              <a:t>Abirami</a:t>
            </a:r>
            <a:r>
              <a:rPr lang="en-US" sz="1800" dirty="0"/>
              <a:t>, S. </a:t>
            </a:r>
            <a:r>
              <a:rPr lang="en-US" sz="1800" dirty="0" err="1"/>
              <a:t>Sivakumar</a:t>
            </a:r>
            <a:r>
              <a:rPr lang="en-US" sz="1800" dirty="0"/>
              <a:t>, M. </a:t>
            </a:r>
            <a:r>
              <a:rPr lang="en-US" sz="1800" dirty="0" err="1"/>
              <a:t>RameshKumar</a:t>
            </a:r>
            <a:r>
              <a:rPr lang="en-US" sz="1800" dirty="0"/>
              <a:t>, U. Arul, and J. </a:t>
            </a:r>
            <a:r>
              <a:rPr lang="en-US" sz="1800" dirty="0" err="1"/>
              <a:t>Seetha</a:t>
            </a:r>
            <a:r>
              <a:rPr lang="en-US" sz="1800" dirty="0"/>
              <a:t>, "Theft Detection System using PIR Sensor," </a:t>
            </a:r>
            <a:r>
              <a:rPr lang="en-US" sz="1800" i="1" dirty="0"/>
              <a:t>2018 4th International Conference on Electrical Energy Systems (ICEES)</a:t>
            </a:r>
            <a:r>
              <a:rPr lang="en-US" sz="1800" dirty="0"/>
              <a:t>, Chennai, India, 2018, pp. 656-660. ISBN: 978-1-5386-3695-4. [Online]. Available: </a:t>
            </a:r>
            <a:r>
              <a:rPr lang="en-US" sz="1800" dirty="0">
                <a:hlinkClick r:id="rId6"/>
              </a:rPr>
              <a:t>https://ieeexplore.ieee.org/document/8443215</a:t>
            </a:r>
            <a:r>
              <a:rPr lang="en-US" sz="1800" dirty="0" smtClean="0"/>
              <a:t>.</a:t>
            </a:r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[5] L. M. </a:t>
            </a:r>
            <a:r>
              <a:rPr lang="en-US" sz="1800" dirty="0" err="1"/>
              <a:t>Satapathy</a:t>
            </a:r>
            <a:r>
              <a:rPr lang="en-US" sz="1800" dirty="0"/>
              <a:t>, S. K. Bastia, and N. </a:t>
            </a:r>
            <a:r>
              <a:rPr lang="en-US" sz="1800" dirty="0" err="1"/>
              <a:t>Mohanty</a:t>
            </a:r>
            <a:r>
              <a:rPr lang="en-US" sz="1800" dirty="0"/>
              <a:t>, "</a:t>
            </a:r>
            <a:r>
              <a:rPr lang="en-US" sz="1800" dirty="0" err="1"/>
              <a:t>Arduino</a:t>
            </a:r>
            <a:r>
              <a:rPr lang="en-US" sz="1800" dirty="0"/>
              <a:t> Based Home Automation Using Internet of Things (</a:t>
            </a:r>
            <a:r>
              <a:rPr lang="en-US" sz="1800" dirty="0" err="1"/>
              <a:t>IoT</a:t>
            </a:r>
            <a:r>
              <a:rPr lang="en-US" sz="1800" dirty="0"/>
              <a:t>)," </a:t>
            </a:r>
            <a:r>
              <a:rPr lang="en-US" sz="1800" i="1" dirty="0"/>
              <a:t>International Journal of Pure and Applied Mathematics</a:t>
            </a:r>
            <a:r>
              <a:rPr lang="en-US" sz="1800" dirty="0"/>
              <a:t>, vol. 118, no. 17, pp. 769-778, 2018. [Online]. Available: </a:t>
            </a:r>
            <a:r>
              <a:rPr lang="en-US" sz="1800" dirty="0">
                <a:hlinkClick r:id="rId7"/>
              </a:rPr>
              <a:t>http://www.ijpam.eu</a:t>
            </a:r>
            <a:r>
              <a:rPr lang="en-US" sz="1800" dirty="0" smtClean="0"/>
              <a:t>.</a:t>
            </a:r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[6] P. S. N. Reddy, K. T. K. Reddy, P. A. K. Reddy, G. N. K. </a:t>
            </a:r>
            <a:r>
              <a:rPr lang="en-US" sz="1800" dirty="0" err="1"/>
              <a:t>Ramaiah</a:t>
            </a:r>
            <a:r>
              <a:rPr lang="en-US" sz="1800" dirty="0"/>
              <a:t>, and S. N. </a:t>
            </a:r>
            <a:r>
              <a:rPr lang="en-US" sz="1800" dirty="0" err="1"/>
              <a:t>Kishor</a:t>
            </a:r>
            <a:r>
              <a:rPr lang="en-US" sz="1800" dirty="0"/>
              <a:t>, "An </a:t>
            </a:r>
            <a:r>
              <a:rPr lang="en-US" sz="1800" dirty="0" err="1"/>
              <a:t>IoT</a:t>
            </a:r>
            <a:r>
              <a:rPr lang="en-US" sz="1800" dirty="0"/>
              <a:t> based Home Automation Using Android Application," in </a:t>
            </a:r>
            <a:r>
              <a:rPr lang="en-US" sz="1800" i="1" dirty="0"/>
              <a:t>Proc. Int. Conf. Signal Process., </a:t>
            </a:r>
            <a:r>
              <a:rPr lang="en-US" sz="1800" i="1" dirty="0" err="1"/>
              <a:t>Commun</a:t>
            </a:r>
            <a:r>
              <a:rPr lang="en-US" sz="1800" i="1" dirty="0"/>
              <a:t>., Power Embedded Syst. (SCOPES)</a:t>
            </a:r>
            <a:r>
              <a:rPr lang="en-US" sz="1800" dirty="0"/>
              <a:t>, 2016, pp. 1-5. [Online]. Available: </a:t>
            </a:r>
            <a:r>
              <a:rPr lang="en-US" sz="1800" dirty="0">
                <a:hlinkClick r:id="rId8"/>
              </a:rPr>
              <a:t>https://</a:t>
            </a:r>
            <a:r>
              <a:rPr lang="en-US" sz="1800" dirty="0" smtClean="0">
                <a:hlinkClick r:id="rId8"/>
              </a:rPr>
              <a:t>ieeexplore.ieee.org/document/9318084</a:t>
            </a:r>
            <a:endParaRPr lang="en-US" sz="1800" dirty="0" smtClean="0"/>
          </a:p>
          <a:p>
            <a:pPr marL="50800" algn="just">
              <a:lnSpc>
                <a:spcPct val="115000"/>
              </a:lnSpc>
              <a:buClr>
                <a:schemeClr val="dk1"/>
              </a:buClr>
              <a:buSzPts val="2800"/>
            </a:pPr>
            <a:r>
              <a:rPr lang="en-US" sz="1800" dirty="0"/>
              <a:t>[7] G. </a:t>
            </a:r>
            <a:r>
              <a:rPr lang="en-US" sz="1800" dirty="0" err="1"/>
              <a:t>Naik</a:t>
            </a:r>
            <a:r>
              <a:rPr lang="en-US" sz="1800" dirty="0"/>
              <a:t> S, A. R, A. D, A. M.D, and A. P, "</a:t>
            </a:r>
            <a:r>
              <a:rPr lang="en-US" sz="1800" dirty="0" err="1"/>
              <a:t>Arduino</a:t>
            </a:r>
            <a:r>
              <a:rPr lang="en-US" sz="1800" dirty="0"/>
              <a:t> Based Earthquake Detector using Accelerometer," </a:t>
            </a:r>
            <a:r>
              <a:rPr lang="en-US" sz="1800" i="1" dirty="0"/>
              <a:t>International Journal of Advanced Research in Electrical, Electronics and Instrumentation Engineering</a:t>
            </a:r>
            <a:r>
              <a:rPr lang="en-US" sz="1800" dirty="0"/>
              <a:t>, vol. 9, no. 7, pp. 2005-2008, July 2020. [Online]. Available: </a:t>
            </a:r>
            <a:r>
              <a:rPr lang="en-US" sz="1800" dirty="0">
                <a:hlinkClick r:id="rId9"/>
              </a:rPr>
              <a:t>https://www.ijareeie.com/upload/2020/july/40_ARDUINO_NC.PDF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3" name="Group 12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7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20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27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4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5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6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8"/>
          <p:cNvSpPr txBox="1"/>
          <p:nvPr/>
        </p:nvSpPr>
        <p:spPr>
          <a:xfrm>
            <a:off x="4419600" y="4305300"/>
            <a:ext cx="90066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  <a:r>
              <a:rPr lang="en-US" sz="15000" b="1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-US" sz="15000" b="1">
                <a:solidFill>
                  <a:srgbClr val="3D3D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0" b="1">
              <a:solidFill>
                <a:srgbClr val="3D3D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2" name="Group 11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6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19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28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3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4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5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9"/>
          <p:cNvSpPr txBox="1"/>
          <p:nvPr/>
        </p:nvSpPr>
        <p:spPr>
          <a:xfrm>
            <a:off x="4419600" y="4475827"/>
            <a:ext cx="90066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 </a:t>
            </a:r>
            <a:endParaRPr sz="20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62000" y="644059"/>
            <a:ext cx="16840200" cy="9316214"/>
            <a:chOff x="838200" y="644059"/>
            <a:chExt cx="16840200" cy="9316214"/>
          </a:xfrm>
        </p:grpSpPr>
        <p:grpSp>
          <p:nvGrpSpPr>
            <p:cNvPr id="12" name="Group 11"/>
            <p:cNvGrpSpPr/>
            <p:nvPr/>
          </p:nvGrpSpPr>
          <p:grpSpPr>
            <a:xfrm>
              <a:off x="1028703" y="644059"/>
              <a:ext cx="16230597" cy="769289"/>
              <a:chOff x="1028703" y="644059"/>
              <a:chExt cx="16230597" cy="769289"/>
            </a:xfrm>
          </p:grpSpPr>
          <p:sp>
            <p:nvSpPr>
              <p:cNvPr id="16" name="Google Shape;178;p14"/>
              <p:cNvSpPr/>
              <p:nvPr/>
            </p:nvSpPr>
            <p:spPr>
              <a:xfrm>
                <a:off x="1028703" y="644059"/>
                <a:ext cx="2740846" cy="769289"/>
              </a:xfrm>
              <a:custGeom>
                <a:avLst/>
                <a:gdLst/>
                <a:ahLst/>
                <a:cxnLst/>
                <a:rect l="l" t="t" r="r" b="b"/>
                <a:pathLst>
                  <a:path w="6909363" h="1939290" extrusionOk="0">
                    <a:moveTo>
                      <a:pt x="5939718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5939718" y="1939290"/>
                    </a:lnTo>
                    <a:cubicBezTo>
                      <a:pt x="6474388" y="1939290"/>
                      <a:pt x="6909363" y="1504315"/>
                      <a:pt x="6909363" y="969645"/>
                    </a:cubicBezTo>
                    <a:cubicBezTo>
                      <a:pt x="6909363" y="434975"/>
                      <a:pt x="6474388" y="0"/>
                      <a:pt x="5939718" y="0"/>
                    </a:cubicBezTo>
                    <a:close/>
                    <a:moveTo>
                      <a:pt x="5939718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5939718" y="25400"/>
                    </a:lnTo>
                    <a:cubicBezTo>
                      <a:pt x="6460418" y="25400"/>
                      <a:pt x="6883963" y="448945"/>
                      <a:pt x="6883963" y="969645"/>
                    </a:cubicBezTo>
                    <a:cubicBezTo>
                      <a:pt x="6883963" y="1490345"/>
                      <a:pt x="6460418" y="1913890"/>
                      <a:pt x="5939718" y="1913890"/>
                    </a:cubicBezTo>
                    <a:close/>
                  </a:path>
                </a:pathLst>
              </a:custGeom>
              <a:solidFill>
                <a:srgbClr val="3D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" name="Google Shape;179;p14"/>
              <p:cNvCxnSpPr/>
              <p:nvPr/>
            </p:nvCxnSpPr>
            <p:spPr>
              <a:xfrm>
                <a:off x="3769546" y="1033463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" name="Google Shape;183;p14"/>
              <p:cNvSpPr txBox="1"/>
              <p:nvPr/>
            </p:nvSpPr>
            <p:spPr>
              <a:xfrm>
                <a:off x="1245776" y="802960"/>
                <a:ext cx="2306696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Leading University</a:t>
                </a:r>
                <a:endParaRPr dirty="0"/>
              </a:p>
            </p:txBody>
          </p:sp>
          <p:sp>
            <p:nvSpPr>
              <p:cNvPr id="19" name="Google Shape;184;p14"/>
              <p:cNvSpPr txBox="1"/>
              <p:nvPr/>
            </p:nvSpPr>
            <p:spPr>
              <a:xfrm>
                <a:off x="16886728" y="826770"/>
                <a:ext cx="372572" cy="4370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 smtClean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29</a:t>
                </a:r>
                <a:endParaRPr sz="2000" b="1" dirty="0">
                  <a:solidFill>
                    <a:srgbClr val="3D3D3D"/>
                  </a:solidFill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13" name="Google Shape;189;p14"/>
            <p:cNvGrpSpPr/>
            <p:nvPr/>
          </p:nvGrpSpPr>
          <p:grpSpPr>
            <a:xfrm>
              <a:off x="838200" y="9601200"/>
              <a:ext cx="16840200" cy="359073"/>
              <a:chOff x="838200" y="8991600"/>
              <a:chExt cx="16840200" cy="359073"/>
            </a:xfrm>
          </p:grpSpPr>
          <p:sp>
            <p:nvSpPr>
              <p:cNvPr id="14" name="Google Shape;190;p14"/>
              <p:cNvSpPr txBox="1"/>
              <p:nvPr/>
            </p:nvSpPr>
            <p:spPr>
              <a:xfrm>
                <a:off x="13411200" y="8991600"/>
                <a:ext cx="4267200" cy="359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r" rtl="0">
                  <a:lnSpc>
                    <a:spcPct val="1424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rgbClr val="3D3D3D"/>
                    </a:solidFill>
                    <a:latin typeface="Barlow"/>
                    <a:ea typeface="Barlow"/>
                    <a:cs typeface="Barlow"/>
                    <a:sym typeface="Barlow"/>
                  </a:rPr>
                  <a:t>Electrical &amp; Electronic Engineering </a:t>
                </a:r>
                <a:endParaRPr dirty="0"/>
              </a:p>
            </p:txBody>
          </p:sp>
          <p:cxnSp>
            <p:nvCxnSpPr>
              <p:cNvPr id="15" name="Google Shape;191;p14"/>
              <p:cNvCxnSpPr/>
              <p:nvPr/>
            </p:nvCxnSpPr>
            <p:spPr>
              <a:xfrm>
                <a:off x="838200" y="9239250"/>
                <a:ext cx="12644544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ivic">
  <a:themeElements>
    <a:clrScheme name="Civic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43050</TotalTime>
  <Words>2259</Words>
  <Application>Microsoft Office PowerPoint</Application>
  <PresentationFormat>Custom</PresentationFormat>
  <Paragraphs>359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Barlow</vt:lpstr>
      <vt:lpstr>Bahnschrift Condensed</vt:lpstr>
      <vt:lpstr>Calibri</vt:lpstr>
      <vt:lpstr>Georgia</vt:lpstr>
      <vt:lpstr>Barlow SemiBold</vt:lpstr>
      <vt:lpstr>Times New Roman</vt:lpstr>
      <vt:lpstr>Bahnschrift</vt:lpstr>
      <vt:lpstr>Noto Sans Symbols</vt:lpstr>
      <vt:lpstr>Wingdings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Implementations (Cont.)</vt:lpstr>
      <vt:lpstr>Implementations (Cont.)</vt:lpstr>
      <vt:lpstr>PowerPoint Presentation</vt:lpstr>
      <vt:lpstr>PowerPoint Presentation</vt:lpstr>
      <vt:lpstr>Limitations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157</cp:revision>
  <dcterms:modified xsi:type="dcterms:W3CDTF">2025-02-27T10:06:43Z</dcterms:modified>
</cp:coreProperties>
</file>